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Login Screen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Employees and admins sign in with work email + master password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Show / hide toggle on the password field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Server issues a JWT that carries the user's role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Role decides which screens load after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Login.jsx, AuthContext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securevault.app/login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32504" y="2002536"/>
            <a:ext cx="7616952" cy="4206240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2220" y="2276856"/>
            <a:ext cx="3017520" cy="3429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12380" y="2478024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2220" y="300837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B2A2E"/>
                </a:solidFill>
                <a:latin typeface="Cambria"/>
              </a:rPr>
              <a:t>SecureVault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3310127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5B7074"/>
                </a:solidFill>
                <a:latin typeface="Calibri"/>
              </a:rPr>
              <a:t>Sign in to your organisation 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6540" y="3648456"/>
            <a:ext cx="246887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Work email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6540" y="3831335"/>
            <a:ext cx="2468879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aditya@company.com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6540" y="4242816"/>
            <a:ext cx="246887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Master password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6540" y="4425696"/>
            <a:ext cx="2468879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••••••••••••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9620" y="442569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28090"/>
                </a:solidFill>
                <a:latin typeface="Calibri"/>
              </a:rPr>
              <a:t>Show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6540" y="4882896"/>
            <a:ext cx="2468879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534009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5B7074"/>
                </a:solidFill>
                <a:latin typeface="Calibri"/>
              </a:rPr>
              <a:t>New employee? </a:t>
            </a:r>
            <a:r>
              <a:rPr sz="900" b="1" i="0">
                <a:solidFill>
                  <a:srgbClr val="028090"/>
                </a:solidFill>
                <a:latin typeface="Calibri"/>
              </a:rPr>
              <a:t>Register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Login Screen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Employee Registration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New employee account creation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Live master-password strength meter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Confirm-password check before submit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Master password hashed with bcrypt on the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Register.jsx, StrengthMeter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securevault.app/register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32504" y="2002536"/>
            <a:ext cx="7616952" cy="4206240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6500" y="2093976"/>
            <a:ext cx="3108960" cy="4005072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500" y="22311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B2A2E"/>
                </a:solidFill>
                <a:latin typeface="Cambria"/>
              </a:rPr>
              <a:t>Join your organisation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0820" y="2660904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Full 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0820" y="2843784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Aditya Kamath 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0820" y="3209544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Work email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0820" y="3392424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aditya@company.com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0820" y="3758184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Master password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0820" y="3941064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••••••••••••••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0820" y="4398264"/>
            <a:ext cx="807720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37120" y="4398264"/>
            <a:ext cx="807720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13420" y="4398264"/>
            <a:ext cx="807720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0820" y="447141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E9E6B"/>
                </a:solidFill>
                <a:latin typeface="Calibri"/>
              </a:rPr>
              <a:t>Strong — 14 characters, not found in breach lists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0820" y="4727448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Confirm master password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0820" y="4910328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••••••••••••••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0820" y="5431536"/>
            <a:ext cx="2560320" cy="329184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Create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0" y="580644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5B7074"/>
                </a:solidFill>
                <a:latin typeface="Calibri"/>
              </a:rPr>
              <a:t>Already registered? </a:t>
            </a:r>
            <a:r>
              <a:rPr sz="900" b="1" i="0">
                <a:solidFill>
                  <a:srgbClr val="028090"/>
                </a:solidFill>
                <a:latin typeface="Calibri"/>
              </a:rPr>
              <a:t>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Employee Registration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Employee: My Credentials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Credentials the employee owns, plus those shared with them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Access column shows who else can open each entry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Green / amber / red strength badge per entry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One-click copy without revealing the 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Credentials.jsx, CredentialRow, FilterChips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securevault.app/credentials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02536"/>
            <a:ext cx="763524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025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▣ 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SecureVault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FE3E8"/>
                </a:solidFill>
                <a:latin typeface="Calibri"/>
              </a:rPr>
              <a:t>|   Acme Technologies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2504" y="2386584"/>
            <a:ext cx="1508760" cy="3831336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386584"/>
            <a:ext cx="0" cy="3831336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10241280" y="2066543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2002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Aditya 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8" y="2532888"/>
            <a:ext cx="1289304" cy="310896"/>
          </a:xfrm>
          <a:prstGeom prst="roundRect">
            <a:avLst>
              <a:gd name="adj" fmla="val 20588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532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My Credentials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986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Shared with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264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My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2E"/>
                </a:solidFill>
                <a:latin typeface="Cambria"/>
              </a:rPr>
              <a:t>My Credentials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2569464"/>
            <a:ext cx="1234440" cy="292608"/>
          </a:xfrm>
          <a:prstGeom prst="roundRect">
            <a:avLst>
              <a:gd name="adj" fmla="val 21875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 Add credential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2569464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⌕  Search…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008376"/>
            <a:ext cx="1188720" cy="237744"/>
          </a:xfrm>
          <a:prstGeom prst="roundRect">
            <a:avLst>
              <a:gd name="adj" fmla="val 46153"/>
            </a:avLst>
          </a:prstGeom>
          <a:solidFill>
            <a:srgbClr val="028090"/>
          </a:solidFill>
          <a:ln w="9525">
            <a:solidFill>
              <a:srgbClr val="02809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Owned by me  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008376"/>
            <a:ext cx="1280160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5B7074"/>
                </a:solidFill>
                <a:latin typeface="Calibri"/>
              </a:rPr>
              <a:t>Shared with me 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3008376"/>
            <a:ext cx="731520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5B7074"/>
                </a:solidFill>
                <a:latin typeface="Calibri"/>
              </a:rPr>
              <a:t>Weak 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008376"/>
            <a:ext cx="777240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5B7074"/>
                </a:solidFill>
                <a:latin typeface="Calibri"/>
              </a:rPr>
              <a:t>Reused 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374136"/>
            <a:ext cx="5669279" cy="27432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3741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3741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Username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3741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Strength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3741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33741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5852160" y="3739896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7033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8862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github.com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6484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aditya.k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400" y="37764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Strong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36484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Only 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36484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760720" y="41056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5852160" y="4197096"/>
            <a:ext cx="274320" cy="274320"/>
          </a:xfrm>
          <a:prstGeom prst="ellipse">
            <a:avLst/>
          </a:prstGeom>
          <a:solidFill>
            <a:srgbClr val="3B6E8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1605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AWS Console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3434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aws.amazon.com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41056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admin@corp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15400" y="42336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B27A0E"/>
                </a:solidFill>
                <a:latin typeface="Calibri"/>
              </a:rPr>
              <a:t>Reused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41056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Shared ·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41056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60720" y="45628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5852160" y="4654296"/>
            <a:ext cx="274320" cy="274320"/>
          </a:xfrm>
          <a:prstGeom prst="ellipse">
            <a:avLst/>
          </a:prstGeom>
          <a:solidFill>
            <a:srgbClr val="7A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6177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Vendor Portal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8006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vendor.example.com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45628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aditya_v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15400" y="46908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F9E3E3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C84B4B"/>
                </a:solidFill>
                <a:latin typeface="Calibri"/>
              </a:rPr>
              <a:t>Weak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9800" y="45628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Only 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81360" y="45628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760720" y="50200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5852160" y="5111496"/>
            <a:ext cx="274320" cy="2743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50749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HR Dashboard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52578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hr.company.com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50200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aditya.k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15400" y="51480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Strong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29800" y="50200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Shared ·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81360" y="50200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760720" y="54772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5852160" y="5568696"/>
            <a:ext cx="274320" cy="27432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55321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Jira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57150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company.atlassian.net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54772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aditya@corp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15400" y="56052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B27A0E"/>
                </a:solidFill>
                <a:latin typeface="Calibri"/>
              </a:rPr>
              <a:t>Medium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29800" y="54772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Only 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60" y="54772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760720" y="59344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Employee: My Credentials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Employee: Add Credential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Title, URL, username and password form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Built-in password generator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Strength meter updates as you type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Encrypted server-side before it is saved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CredentialForm, PasswordGenerator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securevault.app/credentials/new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02536"/>
            <a:ext cx="763524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025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▣ 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SecureVault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FE3E8"/>
                </a:solidFill>
                <a:latin typeface="Calibri"/>
              </a:rPr>
              <a:t>|   Acme Technologies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2504" y="2386584"/>
            <a:ext cx="1508760" cy="3831336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386584"/>
            <a:ext cx="0" cy="3831336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10241280" y="2066543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2002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Aditya 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8" y="2532888"/>
            <a:ext cx="1289304" cy="310896"/>
          </a:xfrm>
          <a:prstGeom prst="roundRect">
            <a:avLst>
              <a:gd name="adj" fmla="val 20588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532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My Credentials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986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Shared with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264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My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2E"/>
                </a:solidFill>
                <a:latin typeface="Cambria"/>
              </a:rPr>
              <a:t>Add Credential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8620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Stored encrypted — only you and employees you share it with can open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136392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Title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319272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Vendor Portal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685032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Website URL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3867912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https://vendor.example.com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233672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Username / email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4416552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aditya_v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78231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Password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4965192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Qm7#vR2!pLx9@Tz4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4965192"/>
            <a:ext cx="91440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02809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⟳ Generate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5349240"/>
            <a:ext cx="822960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44944" y="5349240"/>
            <a:ext cx="822960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29169" y="5349240"/>
            <a:ext cx="822960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13394" y="5349240"/>
            <a:ext cx="822960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5422392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E9E6B"/>
                </a:solidFill>
                <a:latin typeface="Calibri"/>
              </a:rPr>
              <a:t>Strong — 16 characters, mixed case, digits &amp; symbols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5833872"/>
            <a:ext cx="1188720" cy="329184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Save credential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86600" y="5833872"/>
            <a:ext cx="9144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02809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Cancel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3136392"/>
            <a:ext cx="1828800" cy="242316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738360" y="3282696"/>
            <a:ext cx="310896" cy="31089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328269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mbria"/>
              </a:rPr>
              <a:t>Encrypted on save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60" y="3712464"/>
            <a:ext cx="1600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The password is encrypted on the server (AES-256-GCM) before it reaches MongoDB. The database never stores plaintext.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4672583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Generator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38360" y="4901183"/>
            <a:ext cx="731520" cy="237744"/>
          </a:xfrm>
          <a:prstGeom prst="roundRect">
            <a:avLst>
              <a:gd name="adj" fmla="val 38461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1B2A2E"/>
                </a:solidFill>
                <a:latin typeface="Calibri"/>
              </a:rPr>
              <a:t>16 chars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43032" y="4901183"/>
            <a:ext cx="731520" cy="237744"/>
          </a:xfrm>
          <a:prstGeom prst="roundRect">
            <a:avLst>
              <a:gd name="adj" fmla="val 38461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1B2A2E"/>
                </a:solidFill>
                <a:latin typeface="Calibri"/>
              </a:rPr>
              <a:t>A–z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8360" y="5193792"/>
            <a:ext cx="731520" cy="237744"/>
          </a:xfrm>
          <a:prstGeom prst="roundRect">
            <a:avLst>
              <a:gd name="adj" fmla="val 38461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1B2A2E"/>
                </a:solidFill>
                <a:latin typeface="Calibri"/>
              </a:rPr>
              <a:t>0–9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43032" y="5193792"/>
            <a:ext cx="731520" cy="237744"/>
          </a:xfrm>
          <a:prstGeom prst="roundRect">
            <a:avLst>
              <a:gd name="adj" fmla="val 38461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1B2A2E"/>
                </a:solidFill>
                <a:latin typeface="Calibri"/>
              </a:rPr>
              <a:t>#$%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Employee: Add Credential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Employee: Credential Detail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Password masked until Reveal is clicked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Copy buttons for username and password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Shows which colleagues have access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Edit, Share and Delete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CredentialDetail, SharedWithList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securevault.app/credentials/aws-console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02536"/>
            <a:ext cx="763524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025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▣ 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SecureVault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FE3E8"/>
                </a:solidFill>
                <a:latin typeface="Calibri"/>
              </a:rPr>
              <a:t>|   Acme Technologies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2504" y="2386584"/>
            <a:ext cx="1508760" cy="3831336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386584"/>
            <a:ext cx="0" cy="3831336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10241280" y="2066543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2002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Aditya 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8" y="2532888"/>
            <a:ext cx="1289304" cy="310896"/>
          </a:xfrm>
          <a:prstGeom prst="roundRect">
            <a:avLst>
              <a:gd name="adj" fmla="val 20588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532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My Credentials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986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Shared with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264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My Health</a:t>
            </a:r>
          </a:p>
        </p:txBody>
      </p:sp>
      <p:sp>
        <p:nvSpPr>
          <p:cNvPr id="28" name="Oval 27"/>
          <p:cNvSpPr/>
          <p:nvPr/>
        </p:nvSpPr>
        <p:spPr>
          <a:xfrm>
            <a:off x="5760720" y="2569464"/>
            <a:ext cx="420624" cy="420624"/>
          </a:xfrm>
          <a:prstGeom prst="ellipse">
            <a:avLst/>
          </a:prstGeom>
          <a:solidFill>
            <a:srgbClr val="3B6E8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56946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2E"/>
                </a:solidFill>
                <a:latin typeface="Cambria"/>
              </a:rPr>
              <a:t>AWS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8163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aws.amazon.com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98480" y="2679192"/>
            <a:ext cx="731520" cy="201168"/>
          </a:xfrm>
          <a:prstGeom prst="roundRect">
            <a:avLst>
              <a:gd name="adj" fmla="val 45454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B27A0E"/>
                </a:solidFill>
                <a:latin typeface="Calibri"/>
              </a:rPr>
              <a:t>Reused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3136392"/>
            <a:ext cx="566927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322783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5B7074"/>
                </a:solidFill>
                <a:latin typeface="Calibri"/>
              </a:rPr>
              <a:t>Username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22783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admin@corp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22783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97880" y="3630168"/>
            <a:ext cx="539496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5943600" y="364845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5B7074"/>
                </a:solidFill>
                <a:latin typeface="Calibri"/>
              </a:rPr>
              <a:t>Password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648456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••••••••••••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364845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28090"/>
                </a:solidFill>
                <a:latin typeface="Calibri"/>
              </a:rPr>
              <a:t>Reveal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3648456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97880" y="4050792"/>
            <a:ext cx="539496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5943600" y="406908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5B7074"/>
                </a:solidFill>
                <a:latin typeface="Calibri"/>
              </a:rPr>
              <a:t>Website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06908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https://aws.amazon.com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97880" y="4471416"/>
            <a:ext cx="539496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943600" y="448970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5B7074"/>
                </a:solidFill>
                <a:latin typeface="Calibri"/>
              </a:rPr>
              <a:t>Last updated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48970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1 week ago  ·  by Aditya K.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5056632"/>
            <a:ext cx="5669279" cy="640080"/>
          </a:xfrm>
          <a:prstGeom prst="roundRect">
            <a:avLst>
              <a:gd name="adj" fmla="val 14285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5056632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5B7074"/>
                </a:solidFill>
                <a:latin typeface="Calibri"/>
              </a:rPr>
              <a:t>Shared with</a:t>
            </a:r>
          </a:p>
        </p:txBody>
      </p:sp>
      <p:sp>
        <p:nvSpPr>
          <p:cNvPr id="49" name="Oval 48"/>
          <p:cNvSpPr/>
          <p:nvPr/>
        </p:nvSpPr>
        <p:spPr>
          <a:xfrm>
            <a:off x="7040880" y="5239512"/>
            <a:ext cx="274320" cy="274320"/>
          </a:xfrm>
          <a:prstGeom prst="ellipse">
            <a:avLst/>
          </a:prstGeom>
          <a:solidFill>
            <a:srgbClr val="7A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50" name="Oval 49"/>
          <p:cNvSpPr/>
          <p:nvPr/>
        </p:nvSpPr>
        <p:spPr>
          <a:xfrm>
            <a:off x="7388352" y="5239512"/>
            <a:ext cx="274320" cy="2743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0566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Rahul, Sneha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5212080"/>
            <a:ext cx="77724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02809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Manage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720" y="5861304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Edit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20840" y="5861304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02809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Share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80960" y="5861304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C84B4B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C84B4B"/>
                </a:solidFill>
                <a:latin typeface="Calibri"/>
              </a:rPr>
              <a:t>Delete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Employee: Credential Detail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Employee: Share with Colleagues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Pick a named employee — nothing is copied as text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Permission level: can view or can edit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Revoke access at any time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Each share and revoke is written to the audit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ShareModal, PermissionSelect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securevault.app/credentials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02536"/>
            <a:ext cx="763524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025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▣ 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SecureVault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FE3E8"/>
                </a:solidFill>
                <a:latin typeface="Calibri"/>
              </a:rPr>
              <a:t>|   Acme Technologies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2504" y="2386584"/>
            <a:ext cx="1508760" cy="3831336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386584"/>
            <a:ext cx="0" cy="3831336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10241280" y="2066543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2002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Aditya 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8" y="2532888"/>
            <a:ext cx="1289304" cy="310896"/>
          </a:xfrm>
          <a:prstGeom prst="roundRect">
            <a:avLst>
              <a:gd name="adj" fmla="val 20588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532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My Credentials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986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Shared with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264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My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2E"/>
                </a:solidFill>
                <a:latin typeface="Cambria"/>
              </a:rPr>
              <a:t>My Credentials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2569464"/>
            <a:ext cx="1234440" cy="292608"/>
          </a:xfrm>
          <a:prstGeom prst="roundRect">
            <a:avLst>
              <a:gd name="adj" fmla="val 21875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 Add credential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2569464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⌕  Search…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008376"/>
            <a:ext cx="1188720" cy="237744"/>
          </a:xfrm>
          <a:prstGeom prst="roundRect">
            <a:avLst>
              <a:gd name="adj" fmla="val 46153"/>
            </a:avLst>
          </a:prstGeom>
          <a:solidFill>
            <a:srgbClr val="028090"/>
          </a:solidFill>
          <a:ln w="9525">
            <a:solidFill>
              <a:srgbClr val="02809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Owned by me  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008376"/>
            <a:ext cx="1280160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5B7074"/>
                </a:solidFill>
                <a:latin typeface="Calibri"/>
              </a:rPr>
              <a:t>Shared with me 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3008376"/>
            <a:ext cx="731520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5B7074"/>
                </a:solidFill>
                <a:latin typeface="Calibri"/>
              </a:rPr>
              <a:t>Weak 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008376"/>
            <a:ext cx="777240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5B7074"/>
                </a:solidFill>
                <a:latin typeface="Calibri"/>
              </a:rPr>
              <a:t>Reused 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374136"/>
            <a:ext cx="5669279" cy="27432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3741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3741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Username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3741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Strength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3741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33741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5852160" y="3739896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7033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8862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github.com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6484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aditya.k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400" y="37764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Strong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36484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Only 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36484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760720" y="41056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5852160" y="4197096"/>
            <a:ext cx="274320" cy="274320"/>
          </a:xfrm>
          <a:prstGeom prst="ellipse">
            <a:avLst/>
          </a:prstGeom>
          <a:solidFill>
            <a:srgbClr val="3B6E8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1605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AWS Console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3434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aws.amazon.com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41056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admin@corp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15400" y="42336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B27A0E"/>
                </a:solidFill>
                <a:latin typeface="Calibri"/>
              </a:rPr>
              <a:t>Reused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41056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Shared ·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41056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60720" y="45628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5852160" y="4654296"/>
            <a:ext cx="274320" cy="274320"/>
          </a:xfrm>
          <a:prstGeom prst="ellipse">
            <a:avLst/>
          </a:prstGeom>
          <a:solidFill>
            <a:srgbClr val="7A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6177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Vendor Portal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8006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vendor.example.com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45628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aditya_v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15400" y="46908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F9E3E3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C84B4B"/>
                </a:solidFill>
                <a:latin typeface="Calibri"/>
              </a:rPr>
              <a:t>Weak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9800" y="45628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Only 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81360" y="45628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760720" y="50200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5852160" y="5111496"/>
            <a:ext cx="274320" cy="2743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50749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HR Dashboard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52578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hr.company.com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50200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aditya.k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15400" y="51480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Strong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29800" y="50200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Shared ·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81360" y="50200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760720" y="54772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5852160" y="5568696"/>
            <a:ext cx="274320" cy="27432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553212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Jira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57150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company.atlassian.net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54772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aditya@corp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15400" y="5605272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B27A0E"/>
                </a:solidFill>
                <a:latin typeface="Calibri"/>
              </a:rPr>
              <a:t>Medium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29800" y="5477256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Only 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60" y="54772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Copy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760720" y="593445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81" name="Rectangle 80"/>
          <p:cNvSpPr/>
          <p:nvPr/>
        </p:nvSpPr>
        <p:spPr>
          <a:xfrm>
            <a:off x="4032504" y="2386584"/>
            <a:ext cx="7616952" cy="3822192"/>
          </a:xfrm>
          <a:prstGeom prst="rect">
            <a:avLst/>
          </a:prstGeom>
          <a:solidFill>
            <a:srgbClr val="1B2A2E">
              <a:alpha val="4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692140" y="2615184"/>
            <a:ext cx="4297680" cy="288036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66459" y="2752344"/>
            <a:ext cx="3749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B2A2E"/>
                </a:solidFill>
                <a:latin typeface="Cambria"/>
              </a:rPr>
              <a:t>Share “AWS Console”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66459" y="3145536"/>
            <a:ext cx="37490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Search employee by name or email…</a:t>
            </a:r>
          </a:p>
        </p:txBody>
      </p:sp>
      <p:sp>
        <p:nvSpPr>
          <p:cNvPr id="85" name="Oval 84"/>
          <p:cNvSpPr/>
          <p:nvPr/>
        </p:nvSpPr>
        <p:spPr>
          <a:xfrm>
            <a:off x="5966459" y="3648456"/>
            <a:ext cx="310896" cy="310896"/>
          </a:xfrm>
          <a:prstGeom prst="ellipse">
            <a:avLst/>
          </a:prstGeom>
          <a:solidFill>
            <a:srgbClr val="7A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77940" y="362102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Rahul M.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77940" y="38130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rahul@company.com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15300" y="3685032"/>
            <a:ext cx="777240" cy="237744"/>
          </a:xfrm>
          <a:prstGeom prst="roundRect">
            <a:avLst>
              <a:gd name="adj" fmla="val 38461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1B2A2E"/>
                </a:solidFill>
                <a:latin typeface="Calibri"/>
              </a:rPr>
              <a:t>Can view 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3980" y="357530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C84B4B"/>
                </a:solidFill>
                <a:latin typeface="Calibri"/>
              </a:rPr>
              <a:t>Revoke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966459" y="4032504"/>
            <a:ext cx="3749041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5966459" y="4123944"/>
            <a:ext cx="310896" cy="310896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77940" y="4096511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Sneha P.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77940" y="428853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sneha@company.com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115300" y="4160520"/>
            <a:ext cx="777240" cy="237744"/>
          </a:xfrm>
          <a:prstGeom prst="roundRect">
            <a:avLst>
              <a:gd name="adj" fmla="val 38461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0" i="0">
                <a:solidFill>
                  <a:srgbClr val="1B2A2E"/>
                </a:solidFill>
                <a:latin typeface="Calibri"/>
              </a:rPr>
              <a:t>Can edit ▾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3980" y="4050791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C84B4B"/>
                </a:solidFill>
                <a:latin typeface="Calibri"/>
              </a:rPr>
              <a:t>Revoke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966459" y="4507992"/>
            <a:ext cx="3749041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5966459" y="4626864"/>
            <a:ext cx="3749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Shared entries stay encrypted. Every share and revoke is written to the audit log.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846820" y="5047488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886700" y="5047488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02809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Cancel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Employee: Share with Colleagues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Employee: My Password Health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Health score for the employee's own credentials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Counts of weak, reused and old passwords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Each issue links straight to the entry to fix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Uses the zxcvbn strength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HealthReport, ScoreRing, IssueList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securevault.app/my-health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02536"/>
            <a:ext cx="763524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025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▣ 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SecureVault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FE3E8"/>
                </a:solidFill>
                <a:latin typeface="Calibri"/>
              </a:rPr>
              <a:t>|   Acme Technologies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2504" y="2386584"/>
            <a:ext cx="1508760" cy="3831336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386584"/>
            <a:ext cx="0" cy="3831336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10241280" y="2066543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2002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Aditya 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532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My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8986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Shared with 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33088" y="3264408"/>
            <a:ext cx="1289304" cy="310896"/>
          </a:xfrm>
          <a:prstGeom prst="roundRect">
            <a:avLst>
              <a:gd name="adj" fmla="val 20588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3264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My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2E"/>
                </a:solidFill>
                <a:latin typeface="Cambria"/>
              </a:rPr>
              <a:t>My Password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8620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Across the 6 credentials you own</a:t>
            </a:r>
          </a:p>
        </p:txBody>
      </p:sp>
      <p:sp>
        <p:nvSpPr>
          <p:cNvPr id="30" name="Oval 29"/>
          <p:cNvSpPr/>
          <p:nvPr/>
        </p:nvSpPr>
        <p:spPr>
          <a:xfrm>
            <a:off x="5760720" y="3118104"/>
            <a:ext cx="1188720" cy="118872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02809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028090"/>
                </a:solidFill>
                <a:latin typeface="Cambria"/>
              </a:rPr>
              <a:t>72</a:t>
            </a:r>
          </a:p>
          <a:p>
            <a:pPr algn="ctr"/>
            <a:r>
              <a:rPr sz="800" b="0" i="0">
                <a:solidFill>
                  <a:srgbClr val="5B7074"/>
                </a:solidFill>
                <a:latin typeface="Calibri"/>
              </a:rPr>
              <a:t>out of 100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3209544"/>
            <a:ext cx="1325880" cy="1005840"/>
          </a:xfrm>
          <a:prstGeom prst="roundRect">
            <a:avLst>
              <a:gd name="adj" fmla="val 9090"/>
            </a:avLst>
          </a:prstGeom>
          <a:solidFill>
            <a:srgbClr val="F9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3282696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C84B4B"/>
                </a:solidFill>
                <a:latin typeface="Cambria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8130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C84B4B"/>
                </a:solidFill>
                <a:latin typeface="Calibri"/>
              </a:rPr>
              <a:t>Weak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3209544"/>
            <a:ext cx="1325880" cy="1005840"/>
          </a:xfrm>
          <a:prstGeom prst="roundRect">
            <a:avLst>
              <a:gd name="adj" fmla="val 9090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3282696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B27A0E"/>
                </a:solidFill>
                <a:latin typeface="Cambria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8130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B27A0E"/>
                </a:solidFill>
                <a:latin typeface="Calibri"/>
              </a:rPr>
              <a:t>Reused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3209544"/>
            <a:ext cx="1325880" cy="1005840"/>
          </a:xfrm>
          <a:prstGeom prst="roundRect">
            <a:avLst>
              <a:gd name="adj" fmla="val 9090"/>
            </a:avLst>
          </a:prstGeom>
          <a:solidFill>
            <a:srgbClr val="EC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3282696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5B7074"/>
                </a:solidFill>
                <a:latin typeface="Cambria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8130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5B7074"/>
                </a:solidFill>
                <a:latin typeface="Calibri"/>
              </a:rPr>
              <a:t>Old (90d+)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443983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B2A2E"/>
                </a:solidFill>
                <a:latin typeface="Cambria"/>
              </a:rPr>
              <a:t>Needs attention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720" y="4764024"/>
            <a:ext cx="5669279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80" y="479145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Vendor Portal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79145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Weak — 8 characters, found in breach list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4864608"/>
            <a:ext cx="566928" cy="201168"/>
          </a:xfrm>
          <a:prstGeom prst="roundRect">
            <a:avLst>
              <a:gd name="adj" fmla="val 45454"/>
            </a:avLst>
          </a:prstGeom>
          <a:solidFill>
            <a:srgbClr val="F9E3E3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C84B4B"/>
                </a:solidFill>
                <a:latin typeface="Calibri"/>
              </a:rPr>
              <a:t>Weak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476402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28090"/>
                </a:solidFill>
                <a:latin typeface="Calibri"/>
              </a:rPr>
              <a:t>Update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5221224"/>
            <a:ext cx="5669279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524865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AWS Console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524865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Same password used in 2 other entries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66960" y="5321808"/>
            <a:ext cx="566928" cy="201168"/>
          </a:xfrm>
          <a:prstGeom prst="roundRect">
            <a:avLst>
              <a:gd name="adj" fmla="val 45454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B27A0E"/>
                </a:solidFill>
                <a:latin typeface="Calibri"/>
              </a:rPr>
              <a:t>Reused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522122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28090"/>
                </a:solidFill>
                <a:latin typeface="Calibri"/>
              </a:rPr>
              <a:t>Update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5678424"/>
            <a:ext cx="5669279" cy="402336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570585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Old FTP Server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570585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Not changed for 182 days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66960" y="5779008"/>
            <a:ext cx="566928" cy="201168"/>
          </a:xfrm>
          <a:prstGeom prst="roundRect">
            <a:avLst>
              <a:gd name="adj" fmla="val 45454"/>
            </a:avLst>
          </a:prstGeom>
          <a:solidFill>
            <a:srgbClr val="ECEFE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5B7074"/>
                </a:solidFill>
                <a:latin typeface="Calibri"/>
              </a:rPr>
              <a:t>Old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567842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28090"/>
                </a:solidFill>
                <a:latin typeface="Calibri"/>
              </a:rPr>
              <a:t>Update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Employee: My Password Health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Admin: Organisation Dashboard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Organisation-wide view, admin role only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Totals for employees, credentials and health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Weak, reused and old counts across everyone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Live feed of recent credential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AdminDashboard, StatCard, ActivityFeed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02536"/>
            <a:ext cx="763524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025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▣ 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SecureVault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FE3E8"/>
                </a:solidFill>
                <a:latin typeface="Calibri"/>
              </a:rPr>
              <a:t>|   Acme Technologies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2504" y="2386584"/>
            <a:ext cx="1508760" cy="3831336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386584"/>
            <a:ext cx="0" cy="3831336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10241280" y="2066543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2002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Meera 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103120"/>
            <a:ext cx="502920" cy="182880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3088" y="2532888"/>
            <a:ext cx="1289304" cy="310896"/>
          </a:xfrm>
          <a:prstGeom prst="roundRect">
            <a:avLst>
              <a:gd name="adj" fmla="val 20588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2532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8986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Org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264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63016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01421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5B7074"/>
                </a:solidFill>
                <a:latin typeface="Calibri"/>
              </a:rPr>
              <a:t>MY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251960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My Credentials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2E"/>
                </a:solidFill>
                <a:latin typeface="Cambria"/>
              </a:rPr>
              <a:t>Organisation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8620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Acme Technologies  ·  live across all employees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3118104"/>
            <a:ext cx="1348739" cy="868680"/>
          </a:xfrm>
          <a:prstGeom prst="roundRect">
            <a:avLst>
              <a:gd name="adj" fmla="val 10526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172968"/>
            <a:ext cx="13487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28090"/>
                </a:solidFill>
                <a:latin typeface="Cambria"/>
              </a:rPr>
              <a:t>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3666744"/>
            <a:ext cx="134873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28090"/>
                </a:solidFill>
                <a:latin typeface="Calibri"/>
              </a:rPr>
              <a:t>Employees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0900" y="3118104"/>
            <a:ext cx="1348739" cy="868680"/>
          </a:xfrm>
          <a:prstGeom prst="roundRect">
            <a:avLst>
              <a:gd name="adj" fmla="val 10526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0900" y="3172968"/>
            <a:ext cx="13487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28090"/>
                </a:solidFill>
                <a:latin typeface="Cambria"/>
              </a:rPr>
              <a:t>156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900" y="3666744"/>
            <a:ext cx="134873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28090"/>
                </a:solidFill>
                <a:latin typeface="Calibri"/>
              </a:rPr>
              <a:t>Credentials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3118104"/>
            <a:ext cx="1348739" cy="868680"/>
          </a:xfrm>
          <a:prstGeom prst="roundRect">
            <a:avLst>
              <a:gd name="adj" fmla="val 10526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3172968"/>
            <a:ext cx="13487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B27A0E"/>
                </a:solidFill>
                <a:latin typeface="Cambria"/>
              </a:rPr>
              <a:t>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3666744"/>
            <a:ext cx="134873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B27A0E"/>
                </a:solidFill>
                <a:latin typeface="Calibri"/>
              </a:rPr>
              <a:t>Org health /100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81260" y="3118104"/>
            <a:ext cx="1348739" cy="868680"/>
          </a:xfrm>
          <a:prstGeom prst="roundRect">
            <a:avLst>
              <a:gd name="adj" fmla="val 10526"/>
            </a:avLst>
          </a:prstGeom>
          <a:solidFill>
            <a:srgbClr val="F9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81260" y="3172968"/>
            <a:ext cx="13487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C84B4B"/>
                </a:solidFill>
                <a:latin typeface="Cambria"/>
              </a:rPr>
              <a:t>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81260" y="3666744"/>
            <a:ext cx="134873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C84B4B"/>
                </a:solidFill>
                <a:latin typeface="Calibri"/>
              </a:rPr>
              <a:t>Need attention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4169664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4242816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mbria"/>
              </a:rPr>
              <a:t>Issues across the organisation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46725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Weak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4736592"/>
            <a:ext cx="1371600" cy="146304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4736592"/>
            <a:ext cx="960120" cy="146304"/>
          </a:xfrm>
          <a:prstGeom prst="rect">
            <a:avLst/>
          </a:prstGeom>
          <a:solidFill>
            <a:srgbClr val="C8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467258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84B4B"/>
                </a:solidFill>
                <a:latin typeface="Calibri"/>
              </a:rPr>
              <a:t>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51297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Reused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5193792"/>
            <a:ext cx="1371600" cy="146304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83680" y="5193792"/>
            <a:ext cx="754380" cy="146304"/>
          </a:xfrm>
          <a:prstGeom prst="rect">
            <a:avLst/>
          </a:prstGeom>
          <a:solidFill>
            <a:srgbClr val="B27A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0" y="512978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B27A0E"/>
                </a:solidFill>
                <a:latin typeface="Calibri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55869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Old (90d+)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5650992"/>
            <a:ext cx="1371600" cy="146304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0" y="5650992"/>
            <a:ext cx="411480" cy="146304"/>
          </a:xfrm>
          <a:prstGeom prst="rect">
            <a:avLst/>
          </a:prstGeom>
          <a:solidFill>
            <a:srgbClr val="5B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01000" y="558698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5B7074"/>
                </a:solidFill>
                <a:latin typeface="Calibri"/>
              </a:rPr>
              <a:t>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03920" y="4169664"/>
            <a:ext cx="2926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1080" y="4242816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mbria"/>
              </a:rPr>
              <a:t>Recent activity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1080" y="462686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Today 10:47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46268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Rahul M. shared AWS Console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4992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Today 09:15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8320" y="499262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Sneha P. edited Jira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41080" y="535838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Yesterday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20" y="535838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Vikram R. created Vendor Portal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1080" y="572414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Yesterday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20" y="572414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Meera S. deleted Old FTP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Admin: Organisation Dashboard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Admin: Organisation Password Health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Health per employee, not just per user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Shows counts and scores only, never password values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Reveals reuse across different employees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Lets admins target who needs to rotate passwords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OrgHealth, EmployeeHealthTable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securevault.app/admin/health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02536"/>
            <a:ext cx="763524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025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▣ 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SecureVault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FE3E8"/>
                </a:solidFill>
                <a:latin typeface="Calibri"/>
              </a:rPr>
              <a:t>|   Acme Technologies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2504" y="2386584"/>
            <a:ext cx="1508760" cy="3831336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386584"/>
            <a:ext cx="0" cy="3831336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10241280" y="2066543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2002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Meera 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103120"/>
            <a:ext cx="502920" cy="182880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532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33088" y="2898648"/>
            <a:ext cx="1289304" cy="310896"/>
          </a:xfrm>
          <a:prstGeom prst="roundRect">
            <a:avLst>
              <a:gd name="adj" fmla="val 20588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28986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Org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264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63016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01421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5B7074"/>
                </a:solidFill>
                <a:latin typeface="Calibri"/>
              </a:rPr>
              <a:t>MY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251960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My Credentials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2E"/>
                </a:solidFill>
                <a:latin typeface="Cambria"/>
              </a:rPr>
              <a:t>Organisation Password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8620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Counts per employee — password values are never shown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209544"/>
            <a:ext cx="5669279" cy="27432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2095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Employee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20954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Credentials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Weak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2095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Reused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2095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32095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Score</a:t>
            </a:r>
          </a:p>
        </p:txBody>
      </p:sp>
      <p:sp>
        <p:nvSpPr>
          <p:cNvPr id="41" name="Oval 40"/>
          <p:cNvSpPr/>
          <p:nvPr/>
        </p:nvSpPr>
        <p:spPr>
          <a:xfrm>
            <a:off x="5852160" y="3557016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483864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Aditya 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483864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3483864"/>
            <a:ext cx="548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C84B4B"/>
                </a:solidFill>
                <a:latin typeface="Calibr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483864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B27A0E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348386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B7074"/>
                </a:solidFill>
                <a:latin typeface="Calibri"/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98480" y="3593592"/>
            <a:ext cx="457200" cy="201168"/>
          </a:xfrm>
          <a:prstGeom prst="roundRect">
            <a:avLst>
              <a:gd name="adj" fmla="val 45454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B27A0E"/>
                </a:solidFill>
                <a:latin typeface="Calibri"/>
              </a:rPr>
              <a:t>72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760720" y="3904488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5852160" y="3977640"/>
            <a:ext cx="274320" cy="274320"/>
          </a:xfrm>
          <a:prstGeom prst="ellipse">
            <a:avLst/>
          </a:prstGeom>
          <a:solidFill>
            <a:srgbClr val="7A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904488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Rahul 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3904488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3904488"/>
            <a:ext cx="548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C84B4B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3904488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B27A0E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390448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B7074"/>
                </a:solidFill>
                <a:latin typeface="Calibri"/>
              </a:rPr>
              <a:t>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698480" y="4014216"/>
            <a:ext cx="457200" cy="201168"/>
          </a:xfrm>
          <a:prstGeom prst="roundRect">
            <a:avLst>
              <a:gd name="adj" fmla="val 45454"/>
            </a:avLst>
          </a:prstGeom>
          <a:solidFill>
            <a:srgbClr val="F9E3E3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C84B4B"/>
                </a:solidFill>
                <a:latin typeface="Calibri"/>
              </a:rPr>
              <a:t>58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60720" y="4325112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5852160" y="4398264"/>
            <a:ext cx="274320" cy="2743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325112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Sneha P.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325112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4325112"/>
            <a:ext cx="548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B7074"/>
                </a:solidFill>
                <a:latin typeface="Calibr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4325112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B7074"/>
                </a:solidFill>
                <a:latin typeface="Calibri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4325112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B7074"/>
                </a:solidFill>
                <a:latin typeface="Calibri"/>
              </a:rPr>
              <a:t>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98480" y="4434840"/>
            <a:ext cx="457200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91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760720" y="474573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5852160" y="4818888"/>
            <a:ext cx="274320" cy="274320"/>
          </a:xfrm>
          <a:prstGeom prst="ellipse">
            <a:avLst/>
          </a:prstGeom>
          <a:solidFill>
            <a:srgbClr val="3B6E8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4745736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Meera 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63840" y="4745736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78240" y="4745736"/>
            <a:ext cx="548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B7074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20" y="4745736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B27A0E"/>
                </a:solidFill>
                <a:latin typeface="Calibr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474573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B7074"/>
                </a:solidFill>
                <a:latin typeface="Calibri"/>
              </a:rPr>
              <a:t>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698480" y="4855464"/>
            <a:ext cx="457200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85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760720" y="5166360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5852160" y="5239512"/>
            <a:ext cx="274320" cy="27432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5166360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Vikram 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3840" y="5166360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78240" y="5166360"/>
            <a:ext cx="548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C84B4B"/>
                </a:solidFill>
                <a:latin typeface="Calibri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516636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B27A0E"/>
                </a:solidFill>
                <a:latin typeface="Calibri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516636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B7074"/>
                </a:solidFill>
                <a:latin typeface="Calibri"/>
              </a:rPr>
              <a:t>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698480" y="5276088"/>
            <a:ext cx="457200" cy="201168"/>
          </a:xfrm>
          <a:prstGeom prst="roundRect">
            <a:avLst>
              <a:gd name="adj" fmla="val 45454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B27A0E"/>
                </a:solidFill>
                <a:latin typeface="Calibri"/>
              </a:rPr>
              <a:t>61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760720" y="5586984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81" name="Rounded Rectangle 80"/>
          <p:cNvSpPr/>
          <p:nvPr/>
        </p:nvSpPr>
        <p:spPr>
          <a:xfrm>
            <a:off x="5760720" y="5724144"/>
            <a:ext cx="5669279" cy="36576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97880" y="5724144"/>
            <a:ext cx="53949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B7074"/>
                </a:solidFill>
                <a:latin typeface="Calibri"/>
              </a:rPr>
              <a:t>Reuse detected: 3 password groups shared across 9 credentials in 4 different employees' vaults.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Admin: Organisation Password Health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Admin: User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Protected route — admin role only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Invite employees and change roles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Deactivate a leaver to revoke all shared access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See status and credential count per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AdminUsers, RoleBadge, ProtectedRoute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securevault.app/admin/users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02536"/>
            <a:ext cx="763524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025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▣ 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SecureVault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FE3E8"/>
                </a:solidFill>
                <a:latin typeface="Calibri"/>
              </a:rPr>
              <a:t>|   Acme Technologies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2504" y="2386584"/>
            <a:ext cx="1508760" cy="3831336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386584"/>
            <a:ext cx="0" cy="3831336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10241280" y="2066543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2002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Meera 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103120"/>
            <a:ext cx="502920" cy="182880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532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986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Org 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33088" y="3264408"/>
            <a:ext cx="1289304" cy="310896"/>
          </a:xfrm>
          <a:prstGeom prst="roundRect">
            <a:avLst>
              <a:gd name="adj" fmla="val 20588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3264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63016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01421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5B7074"/>
                </a:solidFill>
                <a:latin typeface="Calibri"/>
              </a:rPr>
              <a:t>MY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251960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My Credentials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2E"/>
                </a:solidFill>
                <a:latin typeface="Cambria"/>
              </a:rPr>
              <a:t>User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8620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Deactivating an employee revokes all their shared access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2569464"/>
            <a:ext cx="1371600" cy="292608"/>
          </a:xfrm>
          <a:prstGeom prst="roundRect">
            <a:avLst>
              <a:gd name="adj" fmla="val 21875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 Invite employee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163824"/>
            <a:ext cx="5669279" cy="27432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1638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Employee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1638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Role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1638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Credentials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5852160" y="3529584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49300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Aditya 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675887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aditya@company.com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3566160"/>
            <a:ext cx="731520" cy="201168"/>
          </a:xfrm>
          <a:prstGeom prst="roundRect">
            <a:avLst>
              <a:gd name="adj" fmla="val 45454"/>
            </a:avLst>
          </a:prstGeom>
          <a:solidFill>
            <a:srgbClr val="ECEFE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5B7074"/>
                </a:solidFill>
                <a:latin typeface="Calibri"/>
              </a:rPr>
              <a:t>Employee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4381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3566160"/>
            <a:ext cx="566928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Active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343814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84B4B"/>
                </a:solidFill>
                <a:latin typeface="Calibri"/>
              </a:rPr>
              <a:t>Deactivate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760720" y="3895344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5852160" y="3986783"/>
            <a:ext cx="274320" cy="274320"/>
          </a:xfrm>
          <a:prstGeom prst="ellipse">
            <a:avLst/>
          </a:prstGeom>
          <a:solidFill>
            <a:srgbClr val="7A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950207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Rahul 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133087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rahul@company.com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4023359"/>
            <a:ext cx="731520" cy="201168"/>
          </a:xfrm>
          <a:prstGeom prst="roundRect">
            <a:avLst>
              <a:gd name="adj" fmla="val 45454"/>
            </a:avLst>
          </a:prstGeom>
          <a:solidFill>
            <a:srgbClr val="ECEFE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5B7074"/>
                </a:solidFill>
                <a:latin typeface="Calibri"/>
              </a:rPr>
              <a:t>Employee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38953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12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66960" y="4023359"/>
            <a:ext cx="566928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Active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389534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84B4B"/>
                </a:solidFill>
                <a:latin typeface="Calibri"/>
              </a:rPr>
              <a:t>Deactivate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60720" y="4352544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5852160" y="4443983"/>
            <a:ext cx="274320" cy="2743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407407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Sneha P.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59028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sneha@company.com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4480559"/>
            <a:ext cx="731520" cy="201168"/>
          </a:xfrm>
          <a:prstGeom prst="roundRect">
            <a:avLst>
              <a:gd name="adj" fmla="val 45454"/>
            </a:avLst>
          </a:prstGeom>
          <a:solidFill>
            <a:srgbClr val="ECEFE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5B7074"/>
                </a:solidFill>
                <a:latin typeface="Calibri"/>
              </a:rPr>
              <a:t>Employee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66960" y="4480559"/>
            <a:ext cx="566928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Active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98480" y="435254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84B4B"/>
                </a:solidFill>
                <a:latin typeface="Calibri"/>
              </a:rPr>
              <a:t>Deactivate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760720" y="4809744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5852160" y="4901183"/>
            <a:ext cx="274320" cy="274320"/>
          </a:xfrm>
          <a:prstGeom prst="ellipse">
            <a:avLst/>
          </a:prstGeom>
          <a:solidFill>
            <a:srgbClr val="3B6E8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4864607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Meera 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504748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meera@company.com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937759"/>
            <a:ext cx="731520" cy="201168"/>
          </a:xfrm>
          <a:prstGeom prst="roundRect">
            <a:avLst>
              <a:gd name="adj" fmla="val 45454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Admin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48097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66960" y="4937759"/>
            <a:ext cx="566928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Active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98480" y="480974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C84B4B"/>
                </a:solidFill>
                <a:latin typeface="Calibri"/>
              </a:rPr>
              <a:t>Deactivate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760720" y="5266944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5852160" y="5358383"/>
            <a:ext cx="274320" cy="27432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5321807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Kiran 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550468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kiran@company.com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46720" y="5394959"/>
            <a:ext cx="731520" cy="201168"/>
          </a:xfrm>
          <a:prstGeom prst="roundRect">
            <a:avLst>
              <a:gd name="adj" fmla="val 45454"/>
            </a:avLst>
          </a:prstGeom>
          <a:solidFill>
            <a:srgbClr val="ECEFE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5B7074"/>
                </a:solidFill>
                <a:latin typeface="Calibri"/>
              </a:rPr>
              <a:t>Employee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0" y="52669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66960" y="5394959"/>
            <a:ext cx="566928" cy="201168"/>
          </a:xfrm>
          <a:prstGeom prst="roundRect">
            <a:avLst>
              <a:gd name="adj" fmla="val 45454"/>
            </a:avLst>
          </a:prstGeom>
          <a:solidFill>
            <a:srgbClr val="F9E3E3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C84B4B"/>
                </a:solidFill>
                <a:latin typeface="Calibri"/>
              </a:rPr>
              <a:t>Inactive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98480" y="526694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Reactivate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760720" y="5724144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Admin: User Management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Cambria"/>
              </a:rPr>
              <a:t>Admin: Audit Log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371600"/>
            <a:ext cx="10607040" cy="0"/>
          </a:xfrm>
          <a:prstGeom prst="line">
            <a:avLst/>
          </a:prstGeom>
          <a:ln w="12700">
            <a:solidFill>
              <a:srgbClr val="D7E7E5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691640"/>
            <a:ext cx="3200400" cy="4526280"/>
          </a:xfrm>
          <a:prstGeom prst="roundRect">
            <a:avLst>
              <a:gd name="adj" fmla="val 2857"/>
            </a:avLst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What this screen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88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Timestamped record of every credential action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Filter by user, action and date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Answers who accessed which credential, and when</a:t>
            </a:r>
          </a:p>
          <a:p>
            <a:pPr algn="l" marL="228600" indent="-228600">
              <a:spcAft>
                <a:spcPts val="700"/>
              </a:spcAft>
              <a:buChar char="▪"/>
            </a:pPr>
            <a:r>
              <a:rPr sz="1150" b="0" i="0">
                <a:solidFill>
                  <a:srgbClr val="1B2A2E"/>
                </a:solidFill>
                <a:latin typeface="Calibri"/>
              </a:rPr>
              <a:t>Export for compliance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B7074"/>
                </a:solidFill>
                <a:latin typeface="Calibri"/>
              </a:rPr>
              <a:t>REACT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B2A2E"/>
                </a:solidFill>
                <a:latin typeface="Calibri"/>
              </a:rPr>
              <a:t>AuditLog, FilterBar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91640"/>
            <a:ext cx="76352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7635240" cy="310896"/>
          </a:xfrm>
          <a:prstGeom prst="rect">
            <a:avLst/>
          </a:prstGeom>
          <a:solidFill>
            <a:srgbClr val="E9EEEE"/>
          </a:solidFill>
          <a:ln w="12700">
            <a:solidFill>
              <a:srgbClr val="9DB8B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51376" y="1796796"/>
            <a:ext cx="100584" cy="100584"/>
          </a:xfrm>
          <a:prstGeom prst="ellipse">
            <a:avLst/>
          </a:prstGeom>
          <a:solidFill>
            <a:srgbClr val="E06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796796"/>
            <a:ext cx="100584" cy="100584"/>
          </a:xfrm>
          <a:prstGeom prst="ellipse">
            <a:avLst/>
          </a:prstGeom>
          <a:solidFill>
            <a:srgbClr val="E0B2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2272" y="1796796"/>
            <a:ext cx="100584" cy="100584"/>
          </a:xfrm>
          <a:prstGeom prst="ellipse">
            <a:avLst/>
          </a:prstGeom>
          <a:solidFill>
            <a:srgbClr val="6CBF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1755648"/>
            <a:ext cx="4206240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tIns="0" bIns="0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securevault.app/admin/audit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02536"/>
            <a:ext cx="7635240" cy="38404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025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▣ </a:t>
            </a:r>
            <a:r>
              <a:rPr sz="1200" b="1" i="0">
                <a:solidFill>
                  <a:srgbClr val="FFFFFF"/>
                </a:solidFill>
                <a:latin typeface="Cambria"/>
              </a:rPr>
              <a:t>SecureVault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BFE3E8"/>
                </a:solidFill>
                <a:latin typeface="Calibri"/>
              </a:rPr>
              <a:t>|   Acme Technologies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32504" y="2386584"/>
            <a:ext cx="1508760" cy="3831336"/>
          </a:xfrm>
          <a:prstGeom prst="rect">
            <a:avLst/>
          </a:prstGeom>
          <a:solidFill>
            <a:srgbClr val="F4FA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386584"/>
            <a:ext cx="0" cy="3831336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10241280" y="2066543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3032" y="200253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Meera 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103120"/>
            <a:ext cx="502920" cy="182880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53288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986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Org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2644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Users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33088" y="3630168"/>
            <a:ext cx="1289304" cy="310896"/>
          </a:xfrm>
          <a:prstGeom prst="roundRect">
            <a:avLst>
              <a:gd name="adj" fmla="val 20588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363016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01421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5B7074"/>
                </a:solidFill>
                <a:latin typeface="Calibri"/>
              </a:rPr>
              <a:t>MY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251960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A2E"/>
                </a:solidFill>
                <a:latin typeface="Calibri"/>
              </a:rPr>
              <a:t>My Credentials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2E"/>
                </a:solidFill>
                <a:latin typeface="Cambria"/>
              </a:rPr>
              <a:t>Audit 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3008376"/>
            <a:ext cx="1188720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User: All 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3008376"/>
            <a:ext cx="1280160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Action: All 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3008376"/>
            <a:ext cx="1280160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9DB8BB"/>
            </a:solidFill>
          </a:ln>
          <a:effectLst/>
        </p:spPr>
        <p:txBody>
          <a:bodyPr rtlCol="0" anchor="ctr" wrap="square" tIns="0" bIns="0"/>
          <a:lstStyle/>
          <a:p>
            <a:pPr algn="l"/>
            <a:r>
              <a:rPr sz="850" b="0" i="0">
                <a:solidFill>
                  <a:srgbClr val="5B7074"/>
                </a:solidFill>
                <a:latin typeface="Calibri"/>
              </a:rPr>
              <a:t>Last 7 days 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07040" y="3008376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2809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028090"/>
                </a:solidFill>
                <a:latin typeface="Calibri"/>
              </a:rPr>
              <a:t>Export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392424"/>
            <a:ext cx="5669279" cy="27432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33924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392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3924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33924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5B7074"/>
                </a:solidFill>
                <a:latin typeface="Calibri"/>
              </a:rPr>
              <a:t>Credential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366674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Today 10:47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366674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Aditya K.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3758183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D9EFE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SHARE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66674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AWS Console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760720" y="4050791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5852160" y="4050791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Today 10:42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050791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Rahul M.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4142231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ECEFE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5B7074"/>
                </a:solidFill>
                <a:latin typeface="Calibri"/>
              </a:rPr>
              <a:t>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4050791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GitHub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760720" y="4434840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5852160" y="443484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Today 09:15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443484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Sneha P.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12480" y="4526279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FBF0D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B27A0E"/>
                </a:solidFill>
                <a:latin typeface="Calibri"/>
              </a:rPr>
              <a:t>EDIT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43484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Jira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60720" y="4818888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5852160" y="481888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Yesterday 17:30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481888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Kiran 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4910327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E1F3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2E9E6B"/>
                </a:solidFill>
                <a:latin typeface="Calibri"/>
              </a:rPr>
              <a:t>CREATE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481888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Vendor Portal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760720" y="5202936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5852160" y="520293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Yesterday 16:02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520293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Aditya K.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12480" y="5294375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F9E3E3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C84B4B"/>
                </a:solidFill>
                <a:latin typeface="Calibri"/>
              </a:rPr>
              <a:t>DELETE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8320" y="520293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Old FTP Server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760720" y="5586983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5852160" y="5586983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Yesterday 09:00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5586983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Meera 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12480" y="5678423"/>
            <a:ext cx="658368" cy="201168"/>
          </a:xfrm>
          <a:prstGeom prst="roundRect">
            <a:avLst>
              <a:gd name="adj" fmla="val 45454"/>
            </a:avLst>
          </a:prstGeom>
          <a:solidFill>
            <a:srgbClr val="ECEFE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5B7074"/>
                </a:solidFill>
                <a:latin typeface="Calibri"/>
              </a:rPr>
              <a:t>LOGIN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586983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B2A2E"/>
                </a:solidFill>
                <a:latin typeface="Calibri"/>
              </a:rPr>
              <a:t>—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760720" y="5971031"/>
            <a:ext cx="5669280" cy="0"/>
          </a:xfrm>
          <a:prstGeom prst="line">
            <a:avLst/>
          </a:prstGeom>
          <a:ln w="9525">
            <a:solidFill>
              <a:srgbClr val="D7E7E5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Admin: Audit Log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5B7074"/>
                </a:solidFill>
                <a:latin typeface="Calibri"/>
              </a:rPr>
              <a:t>SecureVault  |  Organisation credential management  |  UI mockup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