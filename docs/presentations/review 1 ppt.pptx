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5" d="100"/>
          <a:sy n="105" d="100"/>
        </p:scale>
        <p:origin x="798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(Functional &amp; Non-Functional)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System Architecture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&amp; ER Diagrams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 &amp; Tech Stack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Design, Frontend &amp; Backend Build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API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(70%), Screenshots &amp; Challenges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registration, login &amp; master password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view, edit &amp; delete credentials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credential with named employees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 shared access at any time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strength, reuse &amp; age analysis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 management &amp; audit log view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AES-256 encryption, bcrypt hashing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control: JWT auth + role-based routes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Auditability: timestamped log of every action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API response &lt; 2 seconds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Usability: responsive, clean React interface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Maintainability: modular MERN codebase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Axios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Sharing &amp; Admin screens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API, JWT &amp; Role Middleware, Encryption Service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Credentials, SharedAccess, AuditLogs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requests flow from the React client through Express middleware (JWT check → role check) to the controllers, then to MongoDB — JSON responses return along the same path.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flow: the plaintext password is encrypted (AES-256-GCM) in the service layer before it is saved — the database only ever holds ciphertext. Each create, view, edit, share and delete also writes an AuditLogs entry.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Actors &amp; Interactions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Employee: manages own vault, shares &amp; revokes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manages users, views audit log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log in and view password health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credential action is also written to the audit log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2240280" y="1874519"/>
            <a:ext cx="3749039" cy="3840480"/>
          </a:xfrm>
          <a:prstGeom prst="rect">
            <a:avLst/>
          </a:prstGeom>
          <a:solidFill>
            <a:srgbClr val="FFFFFF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40280" y="1920240"/>
            <a:ext cx="3749039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SecureVault 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2697480" y="2331720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Register / Login</a:t>
            </a:r>
          </a:p>
        </p:txBody>
      </p:sp>
      <p:sp>
        <p:nvSpPr>
          <p:cNvPr id="17" name="Oval 16"/>
          <p:cNvSpPr/>
          <p:nvPr/>
        </p:nvSpPr>
        <p:spPr>
          <a:xfrm>
            <a:off x="2697480" y="2898648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Manage Credentials (CRUD)</a:t>
            </a:r>
          </a:p>
        </p:txBody>
      </p:sp>
      <p:sp>
        <p:nvSpPr>
          <p:cNvPr id="18" name="Oval 17"/>
          <p:cNvSpPr/>
          <p:nvPr/>
        </p:nvSpPr>
        <p:spPr>
          <a:xfrm>
            <a:off x="2697480" y="3465576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Share / Revoke Access</a:t>
            </a:r>
          </a:p>
        </p:txBody>
      </p:sp>
      <p:sp>
        <p:nvSpPr>
          <p:cNvPr id="19" name="Oval 18"/>
          <p:cNvSpPr/>
          <p:nvPr/>
        </p:nvSpPr>
        <p:spPr>
          <a:xfrm>
            <a:off x="2697480" y="4032504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View Password Health</a:t>
            </a:r>
          </a:p>
        </p:txBody>
      </p:sp>
      <p:sp>
        <p:nvSpPr>
          <p:cNvPr id="20" name="Oval 19"/>
          <p:cNvSpPr/>
          <p:nvPr/>
        </p:nvSpPr>
        <p:spPr>
          <a:xfrm>
            <a:off x="2697480" y="4599431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Manage Users &amp; Roles</a:t>
            </a:r>
          </a:p>
        </p:txBody>
      </p:sp>
      <p:sp>
        <p:nvSpPr>
          <p:cNvPr id="21" name="Oval 20"/>
          <p:cNvSpPr/>
          <p:nvPr/>
        </p:nvSpPr>
        <p:spPr>
          <a:xfrm>
            <a:off x="2697480" y="5166360"/>
            <a:ext cx="2834640" cy="457200"/>
          </a:xfrm>
          <a:prstGeom prst="ellipse">
            <a:avLst/>
          </a:prstGeom>
          <a:solidFill>
            <a:srgbClr val="F4FAF9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150" b="0" i="0">
                <a:solidFill>
                  <a:srgbClr val="1B2A2E"/>
                </a:solidFill>
                <a:latin typeface="Calibri"/>
              </a:rPr>
              <a:t>View Audit Log</a:t>
            </a:r>
          </a:p>
        </p:txBody>
      </p:sp>
      <p:sp>
        <p:nvSpPr>
          <p:cNvPr id="22" name="Oval 21"/>
          <p:cNvSpPr/>
          <p:nvPr/>
        </p:nvSpPr>
        <p:spPr>
          <a:xfrm>
            <a:off x="1463040" y="342900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600200" y="3703320"/>
            <a:ext cx="0" cy="411480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371600" y="3840480"/>
            <a:ext cx="457200" cy="0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417320" y="4114800"/>
            <a:ext cx="182880" cy="347472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00200" y="4114800"/>
            <a:ext cx="182880" cy="347472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7280" y="45262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B2A2E"/>
                </a:solidFill>
                <a:latin typeface="Calibri"/>
              </a:rPr>
              <a:t>Employee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3429000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B2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6629400" y="3703320"/>
            <a:ext cx="0" cy="411480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400800" y="3840480"/>
            <a:ext cx="457200" cy="0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446520" y="4114800"/>
            <a:ext cx="182880" cy="347472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29400" y="4114800"/>
            <a:ext cx="182880" cy="347472"/>
          </a:xfrm>
          <a:prstGeom prst="line">
            <a:avLst/>
          </a:prstGeom>
          <a:ln w="15875">
            <a:solidFill>
              <a:srgbClr val="1B2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126480" y="4526280"/>
            <a:ext cx="100584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1B2A2E"/>
                </a:solidFill>
                <a:latin typeface="Calibri"/>
              </a:rPr>
              <a:t>Admin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828800" y="2560320"/>
            <a:ext cx="868680" cy="1280160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828800" y="3127248"/>
            <a:ext cx="868680" cy="713232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828800" y="3694176"/>
            <a:ext cx="868680" cy="146304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28800" y="3840480"/>
            <a:ext cx="868680" cy="420624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532120" y="2560320"/>
            <a:ext cx="868680" cy="1280160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5532120" y="3840480"/>
            <a:ext cx="868680" cy="420624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5532120" y="3840480"/>
            <a:ext cx="868680" cy="987551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5532120" y="3840480"/>
            <a:ext cx="868680" cy="1554480"/>
          </a:xfrm>
          <a:prstGeom prst="line">
            <a:avLst/>
          </a:prstGeom>
          <a:ln w="12700">
            <a:solidFill>
              <a:srgbClr val="5B70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1:N Credentials (owner)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1:N SharedAccess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1:N SharedAccess (recipient)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1:N AuditLogs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by ObjectId references; ciphertext is embedded in each Credential document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1234440" y="1874519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1874519"/>
            <a:ext cx="26060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231135"/>
            <a:ext cx="242316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PK  </a:t>
            </a:r>
            <a:r>
              <a:rPr sz="1000" b="1" i="0">
                <a:solidFill>
                  <a:srgbClr val="1B2A2E"/>
                </a:solidFill>
                <a:latin typeface="Calibri"/>
              </a:rPr>
              <a:t>_id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name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email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passwordHash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role  (admin / employee)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createdAt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74519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74519"/>
            <a:ext cx="26060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Credentials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31135"/>
            <a:ext cx="242316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PK  </a:t>
            </a:r>
            <a:r>
              <a:rPr sz="1000" b="1" i="0">
                <a:solidFill>
                  <a:srgbClr val="1B2A2E"/>
                </a:solidFill>
                <a:latin typeface="Calibri"/>
              </a:rPr>
              <a:t>_id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ownerId → Users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title, siteUrl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username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encryptedPassword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iv, authTag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updatedAt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34440" y="4023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234440" y="4023360"/>
            <a:ext cx="26060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AuditLogs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379976"/>
            <a:ext cx="242316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PK  </a:t>
            </a:r>
            <a:r>
              <a:rPr sz="1000" b="1" i="0">
                <a:solidFill>
                  <a:srgbClr val="1B2A2E"/>
                </a:solidFill>
                <a:latin typeface="Calibri"/>
              </a:rPr>
              <a:t>_id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userId → Users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credentialId → Credentials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action  (view / edit / share / delete)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timestamp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023360"/>
            <a:ext cx="26060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023360"/>
            <a:ext cx="2606040" cy="3108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SharedAccess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79976"/>
            <a:ext cx="2423160" cy="128930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28090"/>
                </a:solidFill>
                <a:latin typeface="Calibri"/>
              </a:rPr>
              <a:t>PK  </a:t>
            </a:r>
            <a:r>
              <a:rPr sz="1000" b="1" i="0">
                <a:solidFill>
                  <a:srgbClr val="1B2A2E"/>
                </a:solidFill>
                <a:latin typeface="Calibri"/>
              </a:rPr>
              <a:t>_id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credentialId → Credentials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sharedWith → Users</a:t>
            </a:r>
          </a:p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7074"/>
                </a:solidFill>
                <a:latin typeface="Calibri"/>
              </a:rPr>
              <a:t>FK  </a:t>
            </a:r>
            <a:r>
              <a:rPr sz="1000" b="0" i="1">
                <a:solidFill>
                  <a:srgbClr val="1B2A2E"/>
                </a:solidFill>
                <a:latin typeface="Calibri"/>
              </a:rPr>
              <a:t>sharedBy → Users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permission  (view / edit)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    createdAt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840480" y="2743200"/>
            <a:ext cx="457200" cy="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840480" y="2487168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  <a:latin typeface="Calibri"/>
              </a:rPr>
              <a:t>1:N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37460" y="3566160"/>
            <a:ext cx="0" cy="45720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578608" y="368503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1:N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00700" y="3566160"/>
            <a:ext cx="0" cy="45720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41848" y="3685032"/>
            <a:ext cx="4572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28090"/>
                </a:solidFill>
                <a:latin typeface="Calibri"/>
              </a:rPr>
              <a:t>1:N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840480" y="3566160"/>
            <a:ext cx="457200" cy="457200"/>
          </a:xfrm>
          <a:prstGeom prst="line">
            <a:avLst/>
          </a:prstGeom>
          <a:ln w="19050">
            <a:solidFill>
              <a:srgbClr val="0280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Registration, login, master password &amp; role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Signup, Login, JWT Auth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Encrypted storage of employee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Create, View, Update, 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Sharing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credentials with named employees, revoke later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Share, Revoke, Permissions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Health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 scoring, reuse detection &amp; age warnings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Score, Detect Reuse, Flag Stale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&amp; Audit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management and searchable activity 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Users, View / Filter 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(ODM) for schemas and queries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bcrypt (sessions, master-password hashing)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crypto – AES-256-GCM (credential encryption)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zxcvbn (password strength scoring)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(API testing), Axios (HTTP client)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VS Code, npm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Notes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screens: Login, Vault, Share, Health, Admin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masked by default; reveal and copy on demand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shown as green / amber / red badges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for desktop and mobile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  <p:sp>
        <p:nvSpPr>
          <p:cNvPr id="14" name="Rectangle 13"/>
          <p:cNvSpPr/>
          <p:nvPr/>
        </p:nvSpPr>
        <p:spPr>
          <a:xfrm>
            <a:off x="1234440" y="1920240"/>
            <a:ext cx="1783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1920240"/>
            <a:ext cx="1783080" cy="274320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SecureVault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920240"/>
            <a:ext cx="1783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1920240"/>
            <a:ext cx="1783080" cy="274320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SecureVault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1920240"/>
            <a:ext cx="17830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DB8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920240"/>
            <a:ext cx="1783080" cy="274320"/>
          </a:xfrm>
          <a:prstGeom prst="rect">
            <a:avLst/>
          </a:prstGeom>
          <a:solidFill>
            <a:srgbClr val="028090"/>
          </a:solidFill>
          <a:ln w="952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SecureVault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230368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Login /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230368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Vault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5230368"/>
            <a:ext cx="17830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mbria"/>
              </a:rPr>
              <a:t>Health &amp;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377440"/>
            <a:ext cx="14173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B2A2E"/>
                </a:solidFill>
                <a:latin typeface="Calibri"/>
              </a:rPr>
              <a:t>Sign 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17320" y="2834640"/>
            <a:ext cx="1417319" cy="329184"/>
          </a:xfrm>
          <a:prstGeom prst="rect">
            <a:avLst/>
          </a:prstGeom>
          <a:solidFill>
            <a:srgbClr val="E6F1F0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Email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3337560"/>
            <a:ext cx="1417319" cy="329184"/>
          </a:xfrm>
          <a:prstGeom prst="rect">
            <a:avLst/>
          </a:prstGeom>
          <a:solidFill>
            <a:srgbClr val="E6F1F0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Master password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17320" y="3977639"/>
            <a:ext cx="1417319" cy="347472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480560"/>
            <a:ext cx="1417319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028090"/>
                </a:solidFill>
                <a:latin typeface="Calibri"/>
              </a:rPr>
              <a:t>New employee? Register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304288"/>
            <a:ext cx="1508760" cy="274320"/>
          </a:xfrm>
          <a:prstGeom prst="rect">
            <a:avLst/>
          </a:prstGeom>
          <a:solidFill>
            <a:srgbClr val="E6F1F0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00" b="0" i="0">
                <a:solidFill>
                  <a:srgbClr val="5B7074"/>
                </a:solidFill>
                <a:latin typeface="Calibri"/>
              </a:rPr>
              <a:t>Search vault…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2697480"/>
            <a:ext cx="1508760" cy="438912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GitHub</a:t>
            </a:r>
          </a:p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••••••••••</a:t>
            </a:r>
          </a:p>
        </p:txBody>
      </p:sp>
      <p:sp>
        <p:nvSpPr>
          <p:cNvPr id="30" name="Oval 29"/>
          <p:cNvSpPr/>
          <p:nvPr/>
        </p:nvSpPr>
        <p:spPr>
          <a:xfrm>
            <a:off x="4617720" y="2852928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3227832"/>
            <a:ext cx="1508760" cy="438912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AWS Console</a:t>
            </a:r>
          </a:p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••••••••••</a:t>
            </a:r>
          </a:p>
        </p:txBody>
      </p:sp>
      <p:sp>
        <p:nvSpPr>
          <p:cNvPr id="32" name="Oval 31"/>
          <p:cNvSpPr/>
          <p:nvPr/>
        </p:nvSpPr>
        <p:spPr>
          <a:xfrm>
            <a:off x="4617720" y="3383280"/>
            <a:ext cx="128016" cy="128016"/>
          </a:xfrm>
          <a:prstGeom prst="ellipse">
            <a:avLst/>
          </a:prstGeom>
          <a:solidFill>
            <a:srgbClr val="E0A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758184"/>
            <a:ext cx="1508760" cy="438912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Vendor Portal</a:t>
            </a:r>
          </a:p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••••••••••</a:t>
            </a:r>
          </a:p>
        </p:txBody>
      </p:sp>
      <p:sp>
        <p:nvSpPr>
          <p:cNvPr id="34" name="Oval 33"/>
          <p:cNvSpPr/>
          <p:nvPr/>
        </p:nvSpPr>
        <p:spPr>
          <a:xfrm>
            <a:off x="4617720" y="3913632"/>
            <a:ext cx="128016" cy="128016"/>
          </a:xfrm>
          <a:prstGeom prst="ellipse">
            <a:avLst/>
          </a:prstGeom>
          <a:solidFill>
            <a:srgbClr val="C8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37560" y="4288536"/>
            <a:ext cx="1508760" cy="438912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8288" bIns="18288"/>
          <a:lstStyle/>
          <a:p>
            <a:pPr algn="l"/>
            <a:r>
              <a:rPr sz="950" b="1" i="0">
                <a:solidFill>
                  <a:srgbClr val="1B2A2E"/>
                </a:solidFill>
                <a:latin typeface="Calibri"/>
              </a:rPr>
              <a:t>HR Dashboard</a:t>
            </a:r>
          </a:p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••••••••••</a:t>
            </a:r>
          </a:p>
        </p:txBody>
      </p:sp>
      <p:sp>
        <p:nvSpPr>
          <p:cNvPr id="36" name="Oval 35"/>
          <p:cNvSpPr/>
          <p:nvPr/>
        </p:nvSpPr>
        <p:spPr>
          <a:xfrm>
            <a:off x="4617720" y="4443983"/>
            <a:ext cx="128016" cy="128016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37560" y="4800600"/>
            <a:ext cx="1508760" cy="246888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+ Add credential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2286000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Password health</a:t>
            </a:r>
          </a:p>
        </p:txBody>
      </p:sp>
      <p:sp>
        <p:nvSpPr>
          <p:cNvPr id="39" name="Oval 38"/>
          <p:cNvSpPr/>
          <p:nvPr/>
        </p:nvSpPr>
        <p:spPr>
          <a:xfrm>
            <a:off x="5673852" y="2578608"/>
            <a:ext cx="768096" cy="76809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600" b="1" i="0">
                <a:solidFill>
                  <a:srgbClr val="028090"/>
                </a:solidFill>
                <a:latin typeface="Cambria"/>
              </a:rPr>
              <a:t>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349300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Weak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24728" y="3529584"/>
            <a:ext cx="960120" cy="128016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24728" y="3529584"/>
            <a:ext cx="288036" cy="128016"/>
          </a:xfrm>
          <a:prstGeom prst="rect">
            <a:avLst/>
          </a:prstGeom>
          <a:solidFill>
            <a:srgbClr val="C8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0" y="376732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Reused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24728" y="3803904"/>
            <a:ext cx="960120" cy="128016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24728" y="3803904"/>
            <a:ext cx="528066" cy="128016"/>
          </a:xfrm>
          <a:prstGeom prst="rect">
            <a:avLst/>
          </a:prstGeom>
          <a:solidFill>
            <a:srgbClr val="E0A1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0" y="4041648"/>
            <a:ext cx="50292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900" b="0" i="0">
                <a:solidFill>
                  <a:srgbClr val="1B2A2E"/>
                </a:solidFill>
                <a:latin typeface="Calibri"/>
              </a:rPr>
              <a:t>Old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24728" y="4078224"/>
            <a:ext cx="960120" cy="128016"/>
          </a:xfrm>
          <a:prstGeom prst="rect">
            <a:avLst/>
          </a:prstGeom>
          <a:solidFill>
            <a:srgbClr val="E6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824728" y="4078224"/>
            <a:ext cx="432054" cy="128016"/>
          </a:xfrm>
          <a:prstGeom prst="rect">
            <a:avLst/>
          </a:prstGeom>
          <a:solidFill>
            <a:srgbClr val="5B70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03520" y="4407408"/>
            <a:ext cx="150876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B2A2E"/>
                </a:solidFill>
                <a:latin typeface="Calibri"/>
              </a:rPr>
              <a:t>Audit log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03520" y="4663440"/>
            <a:ext cx="1508760" cy="192024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emp01 · viewed · 10:42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4892040"/>
            <a:ext cx="1508760" cy="192024"/>
          </a:xfrm>
          <a:prstGeom prst="rect">
            <a:avLst/>
          </a:prstGeom>
          <a:solidFill>
            <a:srgbClr val="F4FAF9"/>
          </a:solidFill>
          <a:ln w="9525">
            <a:solidFill>
              <a:srgbClr val="D7E7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l"/>
            <a:r>
              <a:rPr sz="800" b="0" i="0">
                <a:solidFill>
                  <a:srgbClr val="5B7074"/>
                </a:solidFill>
                <a:latin typeface="Calibri"/>
              </a:rPr>
              <a:t>emp02 · shared · 10:47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React.js using functional components &amp; hooks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Components: Navbar, VaultList, CredentialCard, ShareModal, HealthBadge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 and user role held in Context API; protected routes via React Router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 attaches the JWT to every API request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masked by default; reveal and copy-to-clipboard on demand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styled with Tailwind CSS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Login, Register, Vault, Add / Edit Credential, Health Report, Admin Panel, Audit Log.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server with modular route structure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pattern: separate routes, controllers &amp; models, plus an encryption service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middleware and role-based authorization (admin / employee)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hashes the master password; credentials are AES-256-GCM encrypted before saving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middleware records every credential action with user and timestamp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centralized error handling, .env configuration; tested in Postman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path: JWT check → role check → controller → encryption service → Mongoose → audit log entry.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used as the data store, accessed through Mongoose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collections: Users, Credentials, SharedAccess, AuditLogs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hold only ciphertext, IV and auth tag — never plaintext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modeled with ObjectId references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on Users.email, Credentials.ownerId and SharedAccess (credentialId, sharedWith)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connected end-to-end with the backend; sample data seeded for testing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Collections: Users  ·  Credentials  ·  SharedAccess  ·  AuditLogs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4224528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new 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 &amp; issue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own &amp; shared 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encrypted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a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/api/credentials/:id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/api/credentials/:id/share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with a named 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/api/credentials/:id/share/:userId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shared access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/api/health/report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Strength, reuse &amp; age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/api/admin/audit-logs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activity log (admin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CRUD + Encryption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0" y="2505456"/>
            <a:ext cx="466344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(Core Screens)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72000" y="3127248"/>
            <a:ext cx="41148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0" y="374904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Permissions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0" y="4370832"/>
            <a:ext cx="30175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Health &amp; Audit Log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0" y="4992624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/ Register screenshot 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Vault Dashboard screenshot 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Share Credential screenshot ]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Admin Panel / Audit Log screenshot ]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Keeping encrypted credentials searchable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 only the password field; title and URL stay searchable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 handling of the encryption 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kept in .env (never committed); random IV per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Enforcing role-based access on every route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JWT + role middleware applied at router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Revoking shared access cleanly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SharedAccess collection; revoke deletes the link, not the credential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Admin Module: user management &amp; org-wide password-health view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sharing flow: revoke and view / edit permission levels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searchable, filterable audit log screen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integration testing and security testing (auth, RBAC, encryption)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UI polish, accessibility &amp; responsiveness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(Render/Vercel + MongoDB Atlas); prepare final report &amp;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6576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Lyastani et al., "Better managed than memorized?" — USENIX Security, 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NIST SP 800-63B-4, Digital Identity Guidelines: Authentication and Authenticator Management, 2025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Sandhu et al., "Role-Based Access Control Models" — IEEE Computer, 1996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Pearman et al., "Why people (don't) use password managers effectively" — SOUPS, 2019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Cheat Sheet Series: Password Storage &amp; Cryptographic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MongoDB, Express, React, Node.js — Official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crypto module, jsonwebtoken and bcrypt library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 |  SecureVault –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1161</Words>
  <Application>Microsoft Office PowerPoint</Application>
  <PresentationFormat>Widescreen</PresentationFormat>
  <Paragraphs>276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 lakshmi</cp:lastModifiedBy>
  <cp:revision>2</cp:revision>
  <dcterms:created xsi:type="dcterms:W3CDTF">2026-09-22T17:17:28Z</dcterms:created>
  <dcterms:modified xsi:type="dcterms:W3CDTF">2026-09-28T03:29:44Z</dcterms:modified>
</cp:coreProperties>
</file>