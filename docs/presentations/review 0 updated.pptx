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395CA6-CC5E-4058-8B76-B2B466AF54BF}">
  <a:tblStyle styleId="{A1395CA6-CC5E-4058-8B76-B2B466AF54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project: SecureVault is an organisation-level password manager built on MERN. The core idea is that employee credentials should live in one encrypted, auditable place instead of spreadsheets, notes and browser autofill.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One-paragraph summary plus the four capabilities that define the system. Mention that the four pillars map directly to four modules in the implementation.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failure modes. Stress the last one: even organisations that survive the first three usually have no answer to 'who saw this password and when'.</a:t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human reason the problem exists — people improvise because remembering is hard, not because they are careless. The right-hand card previews the solution in four lines.</a:t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Left: what teams actually use. Right: the five gaps those tools leave. Every gap on the right is answered by a module on the next slide.</a:t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 row is the request path: the React client never touches plaintext in storage, and the API enforces role checks before the encryption layer is reached. Bottom row is the five modules to be demonstrated.</a:t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objectives, each one testable at the final review. Objective 6 is the engineering constraint rather than a feature.</a:t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explicit about the boundary. Naming the deferred features shows they were considered and scoped out, not missed.</a:t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strands of prior work, each with a citable source — the titles in the first column are live links in the file. Also worth mentioning if asked: Pearman et al., SOUPS 2019, on why adoption of password managers stays low. The point to land: none of these are new individually; the contribution is integrating them into one organisational workflow with auditing on top.</a:t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09f4998874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09f4998874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409f4998874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usenix.org/conference/usenixsecurity18/presentation/lyastani" TargetMode="External"/><Relationship Id="rId4" Type="http://schemas.openxmlformats.org/officeDocument/2006/relationships/hyperlink" Target="https://csrc.nist.gov/pubs/sp/800/63/b/4/final" TargetMode="External"/><Relationship Id="rId5" Type="http://schemas.openxmlformats.org/officeDocument/2006/relationships/hyperlink" Target="https://csrc.nist.gov/csrc/media/projects/role-based-access-control/documents/sandhu96.pd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1215762" y="2181151"/>
            <a:ext cx="33030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SecureVault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1215767" y="2657695"/>
            <a:ext cx="5669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D0D6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4D0D6"/>
                </a:solidFill>
                <a:latin typeface="Calibri"/>
                <a:ea typeface="Calibri"/>
                <a:cs typeface="Calibri"/>
                <a:sym typeface="Calibri"/>
              </a:rPr>
              <a:t>Employee Password &amp; Credential Management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599" y="445873"/>
            <a:ext cx="1359425" cy="135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2791772" y="800083"/>
            <a:ext cx="58218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150" lIns="63150" spcFirstLastPara="1" rIns="63150" wrap="square" tIns="6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2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EASWARI ENGINEERING COLLEGE</a:t>
            </a:r>
            <a:endParaRPr b="1" sz="2072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316646" y="4055111"/>
            <a:ext cx="595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316646" y="4432242"/>
            <a:ext cx="595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Divyanjali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316646" y="4823213"/>
            <a:ext cx="595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Trainer, CSE(AIML)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553554" y="3949568"/>
            <a:ext cx="43218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Aditya Kamath V</a:t>
            </a: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- 310624148601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640080" y="658368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Abstract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640075" y="1600200"/>
            <a:ext cx="5394900" cy="26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4606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44606C"/>
                </a:solidFill>
                <a:latin typeface="Calibri"/>
                <a:ea typeface="Calibri"/>
                <a:cs typeface="Calibri"/>
                <a:sym typeface="Calibri"/>
              </a:rPr>
              <a:t>SecureVault is a centralised web platform that stores employee credentials in encrypted form, lets them be shared with specific colleagues under role-based permissions, continuously analyses password health, and records every credential-related action in an audit log.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0" y="1618488"/>
            <a:ext cx="384048" cy="384048"/>
          </a:xfrm>
          <a:prstGeom prst="rect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6400800" y="1618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6967728" y="1600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Encrypted storage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6967728" y="189280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Credentials are encrypted before they reach the database and decrypted only for an authorised session.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0" y="2697480"/>
            <a:ext cx="384048" cy="384048"/>
          </a:xfrm>
          <a:prstGeom prst="rect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6400800" y="2697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6967728" y="26791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Controlled sharing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967728" y="297180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Credentials are shared inside the platform with named employees — never over chat, mail or shared files.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6967728" y="375818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Password health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6967728" y="405079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Weak, reused and ageing passwords are flagged across the organisation, not just per user.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0" y="4855464"/>
            <a:ext cx="384048" cy="384048"/>
          </a:xfrm>
          <a:prstGeom prst="rect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6400800" y="48554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6967728" y="4837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Audit logging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6967728" y="5129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Every view, edit, share and delete is written to an immutable activity trail.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2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640080" y="658368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1691640"/>
            <a:ext cx="5276088" cy="1993392"/>
          </a:xfrm>
          <a:prstGeom prst="roundRect">
            <a:avLst>
              <a:gd fmla="val 2294" name="adj"/>
            </a:avLst>
          </a:prstGeom>
          <a:solidFill>
            <a:srgbClr val="203540"/>
          </a:solidFill>
          <a:ln cap="flat" cmpd="sng" w="12700">
            <a:solidFill>
              <a:srgbClr val="203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987552" y="2057400"/>
            <a:ext cx="256032" cy="256032"/>
          </a:xfrm>
          <a:prstGeom prst="rect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987552" y="24414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 and reused passwords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987552" y="27889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One password reused across systems turns a single leak into access to everything the employee touches.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272784" y="1691640"/>
            <a:ext cx="5276088" cy="1993392"/>
          </a:xfrm>
          <a:prstGeom prst="roundRect">
            <a:avLst>
              <a:gd fmla="val 2294" name="adj"/>
            </a:avLst>
          </a:prstGeom>
          <a:solidFill>
            <a:srgbClr val="203540"/>
          </a:solidFill>
          <a:ln cap="flat" cmpd="sng" w="12700">
            <a:solidFill>
              <a:srgbClr val="203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620256" y="2057400"/>
            <a:ext cx="256032" cy="256032"/>
          </a:xfrm>
          <a:prstGeom prst="rect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6620256" y="24414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Insecure storage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6620256" y="27889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Credentials end up in text files, spreadsheets, sticky notes and browser stores that nobody controls.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3904488"/>
            <a:ext cx="5276088" cy="1993392"/>
          </a:xfrm>
          <a:prstGeom prst="roundRect">
            <a:avLst>
              <a:gd fmla="val 2294" name="adj"/>
            </a:avLst>
          </a:prstGeom>
          <a:solidFill>
            <a:srgbClr val="203540"/>
          </a:solidFill>
          <a:ln cap="flat" cmpd="sng" w="12700">
            <a:solidFill>
              <a:srgbClr val="203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87552" y="4270248"/>
            <a:ext cx="256032" cy="256032"/>
          </a:xfrm>
          <a:prstGeom prst="rect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987552" y="4654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Uncontrolled sharing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987552" y="500176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Passwords sent over mail or chat stay in those threads permanently and cannot be revoked.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272784" y="3904488"/>
            <a:ext cx="5276088" cy="1993392"/>
          </a:xfrm>
          <a:prstGeom prst="roundRect">
            <a:avLst>
              <a:gd fmla="val 2294" name="adj"/>
            </a:avLst>
          </a:prstGeom>
          <a:solidFill>
            <a:srgbClr val="203540"/>
          </a:solidFill>
          <a:ln cap="flat" cmpd="sng" w="12700">
            <a:solidFill>
              <a:srgbClr val="203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620256" y="4270248"/>
            <a:ext cx="256032" cy="256032"/>
          </a:xfrm>
          <a:prstGeom prst="rect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6620256" y="4654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visibility or accountability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6620256" y="500176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Organisations cannot tell who accessed which credential, when, or whether it was ever changed after an exit.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640080" y="658368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640075" y="1572775"/>
            <a:ext cx="1123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4606C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44606C"/>
                </a:solidFill>
                <a:latin typeface="Calibri"/>
                <a:ea typeface="Calibri"/>
                <a:cs typeface="Calibri"/>
                <a:sym typeface="Calibri"/>
              </a:rPr>
              <a:t>Every organisation runs on credentials — internal dashboards, cloud consoles, databases, vendor portals, social accounts. </a:t>
            </a:r>
            <a:r>
              <a:rPr b="1" i="0" lang="en-US" sz="15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The number of accounts grows far faster than any safe way of remembering them.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276925" y="2733461"/>
            <a:ext cx="4363500" cy="3834000"/>
          </a:xfrm>
          <a:prstGeom prst="roundRect">
            <a:avLst>
              <a:gd fmla="val 1111" name="adj"/>
            </a:avLst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66763" y="3187590"/>
            <a:ext cx="183000" cy="183000"/>
          </a:xfrm>
          <a:prstGeom prst="ellipse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4886803" y="313272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place to store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4886803" y="3407046"/>
            <a:ext cx="356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Employees stop choosing where a password lives.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66763" y="4028838"/>
            <a:ext cx="183000" cy="183000"/>
          </a:xfrm>
          <a:prstGeom prst="ellipse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4886803" y="3973974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way to share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4886803" y="4248294"/>
            <a:ext cx="356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Access is granted to a person, not copied as text.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66763" y="4870086"/>
            <a:ext cx="183000" cy="183000"/>
          </a:xfrm>
          <a:prstGeom prst="ellipse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4886803" y="4815222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view of health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4886803" y="5089542"/>
            <a:ext cx="356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Admins can see weak and reused passwords org-wide.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66763" y="5711334"/>
            <a:ext cx="183000" cy="183000"/>
          </a:xfrm>
          <a:prstGeom prst="ellipse">
            <a:avLst/>
          </a:prstGeom>
          <a:solidFill>
            <a:srgbClr val="B8862B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4886803" y="565647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record of activity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4886803" y="5930790"/>
            <a:ext cx="356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9FB0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0B8"/>
                </a:solidFill>
                <a:latin typeface="Calibri"/>
                <a:ea typeface="Calibri"/>
                <a:cs typeface="Calibri"/>
                <a:sym typeface="Calibri"/>
              </a:rPr>
              <a:t>Nothing happens to a credential without a trace.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640080" y="440326"/>
            <a:ext cx="9144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Existing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1247125" y="1430836"/>
            <a:ext cx="836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400"/>
              <a:buFont typeface="Cambria"/>
              <a:buNone/>
            </a:pPr>
            <a:r>
              <a:rPr b="1" i="0" lang="en-US" sz="18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2269302" y="1409250"/>
            <a:ext cx="8827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Personal password managers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2269302" y="1754618"/>
            <a:ext cx="8827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80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Adopted individually, not administered by the organisation.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1247125" y="2434559"/>
            <a:ext cx="836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400"/>
              <a:buFont typeface="Cambria"/>
              <a:buNone/>
            </a:pPr>
            <a:r>
              <a:rPr b="1" i="0" lang="en-US" sz="18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2269302" y="2412974"/>
            <a:ext cx="8827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Browser-saved credentials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2269302" y="2758341"/>
            <a:ext cx="8827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80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Tied to one device and one profile, with no oversight.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1247125" y="3438283"/>
            <a:ext cx="836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400"/>
              <a:buFont typeface="Cambria"/>
              <a:buNone/>
            </a:pPr>
            <a:r>
              <a:rPr b="1" i="0" lang="en-US" sz="18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2269302" y="3416698"/>
            <a:ext cx="8827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Files, sheets and 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2269302" y="3762065"/>
            <a:ext cx="8827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80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Plain-text credentials stored wherever is convenient.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247125" y="4442007"/>
            <a:ext cx="836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400"/>
              <a:buFont typeface="Cambria"/>
              <a:buNone/>
            </a:pPr>
            <a:r>
              <a:rPr b="1" i="0" lang="en-US" sz="18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2269302" y="4420421"/>
            <a:ext cx="8827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Mail and chat sharing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2269302" y="4765788"/>
            <a:ext cx="8827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80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Passwords pasted into threads that are never cleaned up.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40080" y="658368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Proposed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2101710"/>
            <a:ext cx="2066400" cy="2057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D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841248" y="2357742"/>
            <a:ext cx="310800" cy="310800"/>
          </a:xfrm>
          <a:prstGeom prst="ellipse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841248" y="2357742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841248" y="281494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Encrypted vault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841248" y="3125838"/>
            <a:ext cx="1737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Create, edit and delete credentials, stored encrypted at rest.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2871216" y="2101710"/>
            <a:ext cx="2066400" cy="2057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D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3072384" y="2357742"/>
            <a:ext cx="310800" cy="310800"/>
          </a:xfrm>
          <a:prstGeom prst="ellipse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3072384" y="2357742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3072384" y="281494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Secure sharing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3072384" y="3125838"/>
            <a:ext cx="1737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Grant a named employee access to an entry, and revoke it later.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102352" y="2101710"/>
            <a:ext cx="2066400" cy="2057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D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303520" y="2357742"/>
            <a:ext cx="310800" cy="310800"/>
          </a:xfrm>
          <a:prstGeom prst="ellipse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5303520" y="2357742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303520" y="281494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Password health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303520" y="3125838"/>
            <a:ext cx="1737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Score strength, detect reuse and flag stale credentials.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333488" y="2101710"/>
            <a:ext cx="2066400" cy="2057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D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7534656" y="2357742"/>
            <a:ext cx="310800" cy="310800"/>
          </a:xfrm>
          <a:prstGeom prst="ellipse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534656" y="2357742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534656" y="281494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Role-based access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534656" y="3125838"/>
            <a:ext cx="1737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Admin and employee roles decide what each account can reach.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9564624" y="2101710"/>
            <a:ext cx="2066400" cy="2057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D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9765792" y="2357742"/>
            <a:ext cx="310800" cy="310800"/>
          </a:xfrm>
          <a:prstGeom prst="ellipse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9765792" y="2357742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94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D9A94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9765792" y="281494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9765792" y="3125838"/>
            <a:ext cx="1737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Timestamped record of every credential action, visible to admins.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640080" y="658368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40080" y="1627632"/>
            <a:ext cx="5276088" cy="1234440"/>
          </a:xfrm>
          <a:prstGeom prst="roundRect">
            <a:avLst>
              <a:gd fmla="val 3704" name="adj"/>
            </a:avLst>
          </a:prstGeom>
          <a:solidFill>
            <a:srgbClr val="F2F5F6"/>
          </a:solidFill>
          <a:ln cap="flat" cmpd="sng" w="12700">
            <a:solidFill>
              <a:srgbClr val="F2F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932688" y="1883664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1664208" y="190195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Store credentials securely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1664208" y="2231136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Encrypt every credential before persistence so the database alone reveals nothing.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272784" y="1627632"/>
            <a:ext cx="5276100" cy="123450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DD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6565392" y="1883664"/>
            <a:ext cx="65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296912" y="1901952"/>
            <a:ext cx="397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Cut reuse and weak passwords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296912" y="2231136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Surface strength and reuse problems so they can actually be fixed.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0080" y="3044952"/>
            <a:ext cx="5276088" cy="1234440"/>
          </a:xfrm>
          <a:prstGeom prst="roundRect">
            <a:avLst>
              <a:gd fmla="val 3704" name="adj"/>
            </a:avLst>
          </a:prstGeom>
          <a:solidFill>
            <a:srgbClr val="F2F5F6"/>
          </a:solidFill>
          <a:ln cap="flat" cmpd="sng" w="12700">
            <a:solidFill>
              <a:srgbClr val="F2F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932688" y="3300984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664208" y="331927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Enable controlled sharing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664208" y="3648456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Share access inside the platform, with the ability to revoke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272784" y="3044952"/>
            <a:ext cx="5276100" cy="123450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DD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6565392" y="3300984"/>
            <a:ext cx="65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296912" y="3319272"/>
            <a:ext cx="397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Enforce role-based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296912" y="3648456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Separate admin and employee capabilities across every route.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0080" y="4462272"/>
            <a:ext cx="5276088" cy="1234440"/>
          </a:xfrm>
          <a:prstGeom prst="roundRect">
            <a:avLst>
              <a:gd fmla="val 3704" name="adj"/>
            </a:avLst>
          </a:prstGeom>
          <a:solidFill>
            <a:srgbClr val="F2F5F6"/>
          </a:solidFill>
          <a:ln cap="flat" cmpd="sng" w="12700">
            <a:solidFill>
              <a:srgbClr val="F2F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932688" y="4718304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1664208" y="473659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Maintain a full audit trail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1664208" y="5065776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Log each create, view, edit, share and delete with user and timestamp.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640080" y="366473"/>
            <a:ext cx="9144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Scope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020950" y="1270095"/>
            <a:ext cx="240900" cy="240900"/>
          </a:xfrm>
          <a:prstGeom prst="rect">
            <a:avLst/>
          </a:prstGeom>
          <a:solidFill>
            <a:srgbClr val="16232B"/>
          </a:solidFill>
          <a:ln cap="flat" cmpd="sng" w="209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450" lIns="150450" spcFirstLastPara="1" rIns="150450" wrap="square" tIns="15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78" name="Google Shape;178;p10"/>
          <p:cNvSpPr txBox="1"/>
          <p:nvPr/>
        </p:nvSpPr>
        <p:spPr>
          <a:xfrm>
            <a:off x="1502499" y="1104562"/>
            <a:ext cx="9630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2222"/>
              <a:buFont typeface="Calibri"/>
              <a:buNone/>
            </a:pPr>
            <a:r>
              <a:rPr b="1" i="0" lang="en-US" sz="1333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Employee registration and authentication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1502499" y="1556016"/>
            <a:ext cx="96309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810"/>
              <a:buFont typeface="Calibri"/>
              <a:buNone/>
            </a:pPr>
            <a:r>
              <a:rPr b="0" i="0" lang="en-US" sz="1333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Sign-up, login and session handling with a hashed master password.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020950" y="2383682"/>
            <a:ext cx="240900" cy="240900"/>
          </a:xfrm>
          <a:prstGeom prst="rect">
            <a:avLst/>
          </a:prstGeom>
          <a:solidFill>
            <a:srgbClr val="16232B"/>
          </a:solidFill>
          <a:ln cap="flat" cmpd="sng" w="209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450" lIns="150450" spcFirstLastPara="1" rIns="150450" wrap="square" tIns="15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81" name="Google Shape;181;p10"/>
          <p:cNvSpPr txBox="1"/>
          <p:nvPr/>
        </p:nvSpPr>
        <p:spPr>
          <a:xfrm>
            <a:off x="1502499" y="2218149"/>
            <a:ext cx="9630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2222"/>
              <a:buFont typeface="Calibri"/>
              <a:buNone/>
            </a:pPr>
            <a:r>
              <a:rPr b="1" i="0" lang="en-US" sz="1333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Credential management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1502499" y="2669603"/>
            <a:ext cx="96309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810"/>
              <a:buFont typeface="Calibri"/>
              <a:buNone/>
            </a:pPr>
            <a:r>
              <a:rPr b="0" i="0" lang="en-US" sz="1333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Create, read, update and delete entries in a personal encrypted vault.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020950" y="3497269"/>
            <a:ext cx="240900" cy="240900"/>
          </a:xfrm>
          <a:prstGeom prst="rect">
            <a:avLst/>
          </a:prstGeom>
          <a:solidFill>
            <a:srgbClr val="16232B"/>
          </a:solidFill>
          <a:ln cap="flat" cmpd="sng" w="209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450" lIns="150450" spcFirstLastPara="1" rIns="150450" wrap="square" tIns="15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84" name="Google Shape;184;p10"/>
          <p:cNvSpPr txBox="1"/>
          <p:nvPr/>
        </p:nvSpPr>
        <p:spPr>
          <a:xfrm>
            <a:off x="1502499" y="3331736"/>
            <a:ext cx="9630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2222"/>
              <a:buFont typeface="Calibri"/>
              <a:buNone/>
            </a:pPr>
            <a:r>
              <a:rPr b="1" i="0" lang="en-US" sz="1333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Password health analysis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1502499" y="3783190"/>
            <a:ext cx="96309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810"/>
              <a:buFont typeface="Calibri"/>
              <a:buNone/>
            </a:pPr>
            <a:r>
              <a:rPr b="0" i="0" lang="en-US" sz="1333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Strength scoring, reuse detection and age warnings.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020950" y="4610855"/>
            <a:ext cx="240900" cy="240900"/>
          </a:xfrm>
          <a:prstGeom prst="rect">
            <a:avLst/>
          </a:prstGeom>
          <a:solidFill>
            <a:srgbClr val="16232B"/>
          </a:solidFill>
          <a:ln cap="flat" cmpd="sng" w="209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450" lIns="150450" spcFirstLastPara="1" rIns="150450" wrap="square" tIns="15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87" name="Google Shape;187;p10"/>
          <p:cNvSpPr txBox="1"/>
          <p:nvPr/>
        </p:nvSpPr>
        <p:spPr>
          <a:xfrm>
            <a:off x="1502499" y="4445322"/>
            <a:ext cx="9630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2222"/>
              <a:buFont typeface="Calibri"/>
              <a:buNone/>
            </a:pPr>
            <a:r>
              <a:rPr b="1" i="0" lang="en-US" sz="1333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Sharing and permissions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1502499" y="4896776"/>
            <a:ext cx="96309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810"/>
              <a:buFont typeface="Calibri"/>
              <a:buNone/>
            </a:pPr>
            <a:r>
              <a:rPr b="0" i="0" lang="en-US" sz="1333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Share entries with named employees under role-based rules.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020950" y="5724442"/>
            <a:ext cx="240900" cy="240900"/>
          </a:xfrm>
          <a:prstGeom prst="rect">
            <a:avLst/>
          </a:prstGeom>
          <a:solidFill>
            <a:srgbClr val="16232B"/>
          </a:solidFill>
          <a:ln cap="flat" cmpd="sng" w="209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450" lIns="150450" spcFirstLastPara="1" rIns="150450" wrap="square" tIns="15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90" name="Google Shape;190;p10"/>
          <p:cNvSpPr txBox="1"/>
          <p:nvPr/>
        </p:nvSpPr>
        <p:spPr>
          <a:xfrm>
            <a:off x="1502499" y="5558909"/>
            <a:ext cx="9630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2222"/>
              <a:buFont typeface="Calibri"/>
              <a:buNone/>
            </a:pPr>
            <a:r>
              <a:rPr b="1" i="0" lang="en-US" sz="1333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Admin and audit view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502499" y="6010363"/>
            <a:ext cx="96309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95"/>
              </a:buClr>
              <a:buSzPts val="1810"/>
              <a:buFont typeface="Calibri"/>
              <a:buNone/>
            </a:pPr>
            <a:r>
              <a:rPr b="0" i="0" lang="en-US" sz="1333" u="none" cap="none" strike="noStrike">
                <a:solidFill>
                  <a:srgbClr val="7A8C95"/>
                </a:solidFill>
                <a:latin typeface="Calibri"/>
                <a:ea typeface="Calibri"/>
                <a:cs typeface="Calibri"/>
                <a:sym typeface="Calibri"/>
              </a:rPr>
              <a:t>User management plus a searchable activity log.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/>
        </p:nvSpPr>
        <p:spPr>
          <a:xfrm>
            <a:off x="10817352" y="384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8862B"/>
                </a:solidFill>
                <a:latin typeface="Cambria"/>
                <a:ea typeface="Cambria"/>
                <a:cs typeface="Cambria"/>
                <a:sym typeface="Cambria"/>
              </a:rPr>
              <a:t>09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640080" y="658368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11"/>
          <p:cNvGraphicFramePr/>
          <p:nvPr/>
        </p:nvGraphicFramePr>
        <p:xfrm>
          <a:off x="64008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{A1395CA6-CC5E-4058-8B76-B2B466AF54BF}</a:tableStyleId>
              </a:tblPr>
              <a:tblGrid>
                <a:gridCol w="3246125"/>
                <a:gridCol w="4462275"/>
                <a:gridCol w="3200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/>
                        <a:t>Area &amp; reference</a:t>
                      </a:r>
                      <a:endParaRPr sz="1200" u="none" cap="none" strike="noStrike"/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/>
                        <a:t>What the work establishes</a:t>
                      </a:r>
                      <a:endParaRPr sz="1200" u="none" cap="none" strike="noStrike"/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/>
                        <a:t>Used in SecureVault as</a:t>
                      </a:r>
                      <a:endParaRPr sz="1200" u="none" cap="none" strike="noStrike"/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2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 manager systems</a:t>
                      </a:r>
                      <a:br>
                        <a:rPr b="1" lang="en-US" sz="1200" u="none" cap="none" strike="noStrike">
                          <a:solidFill>
                            <a:srgbClr val="16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Lyastani et al., USENIX Security 2018</a:t>
                      </a:r>
                      <a:endParaRPr sz="1200" u="none" cap="none" strike="noStrike"/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606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Managers measurably improve password strength and cut reuse — but only when they also support password creation.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606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core vault 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2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 strength analysis</a:t>
                      </a:r>
                      <a:br>
                        <a:rPr b="1" lang="en-US" sz="1200" u="none" cap="none" strike="noStrike">
                          <a:solidFill>
                            <a:srgbClr val="16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NIST SP 800-63B-4, 2025</a:t>
                      </a:r>
                      <a:endParaRPr sz="1200" u="none" cap="none" strike="noStrike"/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606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 and blocklist screening improve real password strength more than composition rules do.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606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health analysis module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2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Role-based access control</a:t>
                      </a:r>
                      <a:br>
                        <a:rPr b="1" lang="en-US" sz="1200" u="none" cap="none" strike="noStrike">
                          <a:solidFill>
                            <a:srgbClr val="16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Sandhu et al., IEEE Computer 1996</a:t>
                      </a:r>
                      <a:endParaRPr sz="1200" u="none" cap="none" strike="noStrike"/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606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Permissions attached to roles rather than individuals scale better and reduce over-provisioning.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606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4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/ employee separation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E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11"/>
          <p:cNvSpPr/>
          <p:nvPr/>
        </p:nvSpPr>
        <p:spPr>
          <a:xfrm>
            <a:off x="640080" y="1627632"/>
            <a:ext cx="10908792" cy="384048"/>
          </a:xfrm>
          <a:prstGeom prst="rect">
            <a:avLst/>
          </a:prstGeom>
          <a:solidFill>
            <a:srgbClr val="16232B"/>
          </a:solidFill>
          <a:ln cap="flat" cmpd="sng" w="12700">
            <a:solidFill>
              <a:srgbClr val="162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749808" y="1627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Area &amp; reference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3995928" y="1627632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work establishes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8458200" y="1627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in SecureVault 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2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/>
          <p:nvPr/>
        </p:nvSpPr>
        <p:spPr>
          <a:xfrm>
            <a:off x="4760205" y="3115428"/>
            <a:ext cx="28302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r>
              <a:rPr b="1" lang="en-US" sz="3200">
                <a:solidFill>
                  <a:srgbClr val="16232B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